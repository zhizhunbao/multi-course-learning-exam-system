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500" r:id="rId3"/>
    <p:sldId id="501" r:id="rId4"/>
    <p:sldId id="502" r:id="rId5"/>
  </p:sldIdLst>
  <p:sldSz cx="16257588" cy="9144000"/>
  <p:notesSz cx="6858000" cy="9144000"/>
  <p:custDataLst>
    <p:tags r:id="rId8"/>
  </p:custDataLst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43"/>
    <a:srgbClr val="589278"/>
    <a:srgbClr val="267A52"/>
    <a:srgbClr val="7AC143"/>
    <a:srgbClr val="1E6040"/>
    <a:srgbClr val="00673E"/>
    <a:srgbClr val="43B0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69779" autoAdjust="0"/>
  </p:normalViewPr>
  <p:slideViewPr>
    <p:cSldViewPr snapToGrid="0" snapToObjects="1">
      <p:cViewPr varScale="1">
        <p:scale>
          <a:sx n="43" d="100"/>
          <a:sy n="43" d="100"/>
        </p:scale>
        <p:origin x="1536" y="48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8/8/2023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8/8/2023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26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149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83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621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EC7CE2-77FA-44DF-B830-5A01C1F6DB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198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693" r:id="rId6"/>
    <p:sldLayoutId id="2147483685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4" r:id="rId14"/>
    <p:sldLayoutId id="2147483695" r:id="rId15"/>
    <p:sldLayoutId id="2147483696" r:id="rId16"/>
    <p:sldLayoutId id="2147483697" r:id="rId17"/>
    <p:sldLayoutId id="2147483677" r:id="rId18"/>
    <p:sldLayoutId id="2147483698" r:id="rId19"/>
    <p:sldLayoutId id="2147483699" r:id="rId20"/>
    <p:sldLayoutId id="2147483682" r:id="rId21"/>
    <p:sldLayoutId id="2147483654" r:id="rId22"/>
    <p:sldLayoutId id="2147483662" r:id="rId23"/>
    <p:sldLayoutId id="2147483683" r:id="rId24"/>
    <p:sldLayoutId id="2147483684" r:id="rId25"/>
    <p:sldLayoutId id="2147483664" r:id="rId26"/>
    <p:sldLayoutId id="2147483700" r:id="rId27"/>
    <p:sldLayoutId id="2147483701" r:id="rId28"/>
    <p:sldLayoutId id="2147483657" r:id="rId29"/>
    <p:sldLayoutId id="2147483674" r:id="rId30"/>
    <p:sldLayoutId id="2147483675" r:id="rId31"/>
    <p:sldLayoutId id="2147483681" r:id="rId32"/>
    <p:sldLayoutId id="2147483667" r:id="rId33"/>
    <p:sldLayoutId id="2147483680" r:id="rId34"/>
    <p:sldLayoutId id="2147483702" r:id="rId35"/>
    <p:sldLayoutId id="2147483703" r:id="rId36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882" y="1716573"/>
            <a:ext cx="9668510" cy="2180690"/>
          </a:xfrm>
        </p:spPr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Job </a:t>
            </a:r>
            <a:r>
              <a:rPr lang="en-US" dirty="0" smtClean="0"/>
              <a:t>Application Package Assignment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812881" y="4032727"/>
            <a:ext cx="13485010" cy="2336800"/>
          </a:xfrm>
        </p:spPr>
        <p:txBody>
          <a:bodyPr/>
          <a:lstStyle/>
          <a:p>
            <a:r>
              <a:rPr lang="en-US" dirty="0" smtClean="0"/>
              <a:t>Where to find the assignment rubric and </a:t>
            </a:r>
            <a:r>
              <a:rPr lang="en-US" smtClean="0"/>
              <a:t>your individual feedback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81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576777"/>
            <a:ext cx="14216530" cy="133597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000" dirty="0" smtClean="0"/>
              <a:t>Job </a:t>
            </a:r>
            <a:r>
              <a:rPr lang="en-US" sz="4000" dirty="0"/>
              <a:t>Application Package Assignment </a:t>
            </a:r>
            <a:r>
              <a:rPr lang="en-US" sz="4000" dirty="0" smtClean="0"/>
              <a:t>– Evaluation and Feedback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0" y="2202242"/>
            <a:ext cx="14570555" cy="5728099"/>
          </a:xfrm>
        </p:spPr>
        <p:txBody>
          <a:bodyPr/>
          <a:lstStyle/>
          <a:p>
            <a:pPr marL="514350" lvl="0" indent="-514350">
              <a:buClr>
                <a:srgbClr val="599A83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423F3F"/>
                </a:solidFill>
              </a:rPr>
              <a:t>Job </a:t>
            </a:r>
            <a:r>
              <a:rPr lang="en-US" sz="2400" dirty="0">
                <a:solidFill>
                  <a:srgbClr val="423F3F"/>
                </a:solidFill>
              </a:rPr>
              <a:t>Application Package Assignment is one of the essential </a:t>
            </a:r>
            <a:r>
              <a:rPr lang="en-US" sz="2400" dirty="0" smtClean="0">
                <a:solidFill>
                  <a:srgbClr val="423F3F"/>
                </a:solidFill>
              </a:rPr>
              <a:t>co-op and job </a:t>
            </a:r>
            <a:r>
              <a:rPr lang="en-US" sz="2400" dirty="0">
                <a:solidFill>
                  <a:srgbClr val="423F3F"/>
                </a:solidFill>
              </a:rPr>
              <a:t>readiness </a:t>
            </a:r>
            <a:r>
              <a:rPr lang="en-US" sz="2400" dirty="0" smtClean="0">
                <a:solidFill>
                  <a:srgbClr val="423F3F"/>
                </a:solidFill>
              </a:rPr>
              <a:t>activities and is evaluated in Brightspace</a:t>
            </a:r>
          </a:p>
          <a:p>
            <a:pPr marL="514350" lvl="0" indent="-514350">
              <a:buClr>
                <a:srgbClr val="599A83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423F3F"/>
                </a:solidFill>
              </a:rPr>
              <a:t>Job </a:t>
            </a:r>
            <a:r>
              <a:rPr lang="en-US" sz="2400" dirty="0" smtClean="0">
                <a:solidFill>
                  <a:srgbClr val="423F3F"/>
                </a:solidFill>
              </a:rPr>
              <a:t>Application Package requires a submission of </a:t>
            </a:r>
            <a:r>
              <a:rPr lang="en-US" sz="2400" dirty="0" smtClean="0">
                <a:solidFill>
                  <a:srgbClr val="423F3F"/>
                </a:solidFill>
              </a:rPr>
              <a:t>a resume </a:t>
            </a:r>
            <a:r>
              <a:rPr lang="en-US" sz="2400" dirty="0" smtClean="0">
                <a:solidFill>
                  <a:srgbClr val="423F3F"/>
                </a:solidFill>
              </a:rPr>
              <a:t>and a cover letter customized to a sample job posting</a:t>
            </a:r>
          </a:p>
          <a:p>
            <a:pPr marL="514350" lvl="0" indent="-514350">
              <a:buClr>
                <a:srgbClr val="599A83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423F3F"/>
                </a:solidFill>
              </a:rPr>
              <a:t>These documents must be submitted as </a:t>
            </a:r>
            <a:r>
              <a:rPr lang="en-US" sz="2400" b="1" dirty="0">
                <a:solidFill>
                  <a:srgbClr val="423F3F"/>
                </a:solidFill>
              </a:rPr>
              <a:t>one PDF or Word document; </a:t>
            </a:r>
            <a:r>
              <a:rPr lang="en-US" sz="2400" dirty="0">
                <a:solidFill>
                  <a:srgbClr val="FF0000"/>
                </a:solidFill>
              </a:rPr>
              <a:t>.ZIP or .RAR </a:t>
            </a:r>
            <a:r>
              <a:rPr lang="en-US" sz="2400" dirty="0" smtClean="0">
                <a:solidFill>
                  <a:srgbClr val="FF0000"/>
                </a:solidFill>
              </a:rPr>
              <a:t>file formats </a:t>
            </a:r>
            <a:r>
              <a:rPr lang="en-US" sz="2400" dirty="0">
                <a:solidFill>
                  <a:srgbClr val="FF0000"/>
                </a:solidFill>
              </a:rPr>
              <a:t>cannot be evaluated in Brightspace</a:t>
            </a:r>
            <a:endParaRPr lang="en-US" sz="2400" dirty="0" smtClean="0">
              <a:solidFill>
                <a:srgbClr val="FF0000"/>
              </a:solidFill>
            </a:endParaRPr>
          </a:p>
          <a:p>
            <a:pPr marL="514350" lvl="0" indent="-514350">
              <a:buClr>
                <a:srgbClr val="599A83"/>
              </a:buClr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423F3F"/>
                </a:solidFill>
              </a:rPr>
              <a:t>Assignment Rubric</a:t>
            </a:r>
          </a:p>
          <a:p>
            <a:pPr marL="1381125" lvl="1" indent="-466725">
              <a:buClr>
                <a:srgbClr val="599A83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423F3F"/>
                </a:solidFill>
              </a:rPr>
              <a:t>Outlines the evaluation criteria for the assignment and provides the first level of feedback</a:t>
            </a:r>
          </a:p>
          <a:p>
            <a:pPr marL="514350" lvl="0" indent="-514350">
              <a:buClr>
                <a:srgbClr val="599A83"/>
              </a:buClr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423F3F"/>
                </a:solidFill>
              </a:rPr>
              <a:t>Individual Feedback and Suggestions</a:t>
            </a:r>
          </a:p>
          <a:p>
            <a:pPr marL="1381125" lvl="1" indent="-466725">
              <a:buClr>
                <a:srgbClr val="599A83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423F3F"/>
                </a:solidFill>
              </a:rPr>
              <a:t>Individual feedback for this assignment is provided using a program called Turnitin</a:t>
            </a:r>
          </a:p>
          <a:p>
            <a:pPr marL="1381125" lvl="1" indent="-466725">
              <a:buClr>
                <a:srgbClr val="599A83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423F3F"/>
                </a:solidFill>
              </a:rPr>
              <a:t>Students can access their individual feedback by following the </a:t>
            </a:r>
            <a:r>
              <a:rPr lang="en-US" sz="2400" b="1" dirty="0">
                <a:solidFill>
                  <a:srgbClr val="006643"/>
                </a:solidFill>
              </a:rPr>
              <a:t>View Turnitin Online Grading </a:t>
            </a:r>
            <a:r>
              <a:rPr lang="en-US" sz="2400" dirty="0" smtClean="0">
                <a:solidFill>
                  <a:srgbClr val="423F3F"/>
                </a:solidFill>
              </a:rPr>
              <a:t>link</a:t>
            </a:r>
            <a:endParaRPr lang="en-US" sz="2400" dirty="0">
              <a:solidFill>
                <a:srgbClr val="423F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76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576777"/>
            <a:ext cx="14216530" cy="133597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000" dirty="0"/>
              <a:t>Co-op Job Application Package Assignment </a:t>
            </a:r>
            <a:r>
              <a:rPr lang="en-US" sz="4000" dirty="0" smtClean="0"/>
              <a:t>– Rubric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432423"/>
            <a:ext cx="5856860" cy="3778125"/>
          </a:xfrm>
        </p:spPr>
        <p:txBody>
          <a:bodyPr/>
          <a:lstStyle/>
          <a:p>
            <a:pPr marL="514350" lvl="0" indent="-514350">
              <a:buClr>
                <a:srgbClr val="599A83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423F3F"/>
                </a:solidFill>
              </a:rPr>
              <a:t>Log into </a:t>
            </a:r>
            <a:r>
              <a:rPr lang="en-US" sz="2400" b="1" dirty="0" smtClean="0">
                <a:solidFill>
                  <a:srgbClr val="423F3F"/>
                </a:solidFill>
              </a:rPr>
              <a:t>Brightspace, GEP1001</a:t>
            </a:r>
            <a:endParaRPr lang="en-US" sz="2400" b="1" dirty="0">
              <a:solidFill>
                <a:srgbClr val="423F3F"/>
              </a:solidFill>
            </a:endParaRPr>
          </a:p>
          <a:p>
            <a:pPr marL="514350" lvl="0" indent="-514350">
              <a:buClr>
                <a:srgbClr val="599A83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423F3F"/>
                </a:solidFill>
              </a:rPr>
              <a:t>Go to </a:t>
            </a:r>
            <a:r>
              <a:rPr lang="en-US" sz="2400" b="1" dirty="0" smtClean="0">
                <a:solidFill>
                  <a:srgbClr val="423F3F"/>
                </a:solidFill>
              </a:rPr>
              <a:t>Activities</a:t>
            </a:r>
            <a:r>
              <a:rPr lang="en-US" sz="2400" dirty="0" smtClean="0">
                <a:solidFill>
                  <a:srgbClr val="423F3F"/>
                </a:solidFill>
              </a:rPr>
              <a:t> &gt; </a:t>
            </a:r>
            <a:r>
              <a:rPr lang="en-US" sz="2400" b="1" dirty="0" smtClean="0">
                <a:solidFill>
                  <a:srgbClr val="423F3F"/>
                </a:solidFill>
              </a:rPr>
              <a:t>Assignments</a:t>
            </a:r>
            <a:endParaRPr lang="en-US" sz="2400" b="1" dirty="0">
              <a:solidFill>
                <a:srgbClr val="423F3F"/>
              </a:solidFill>
            </a:endParaRPr>
          </a:p>
          <a:p>
            <a:pPr marL="514350" lvl="0" indent="-514350">
              <a:buClr>
                <a:srgbClr val="599A83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423F3F"/>
                </a:solidFill>
              </a:rPr>
              <a:t>Follow the links from either the </a:t>
            </a:r>
            <a:r>
              <a:rPr lang="en-US" sz="2400" b="1" dirty="0" smtClean="0">
                <a:solidFill>
                  <a:srgbClr val="423F3F"/>
                </a:solidFill>
              </a:rPr>
              <a:t>Completion Status </a:t>
            </a:r>
            <a:r>
              <a:rPr lang="en-US" sz="2400" dirty="0" smtClean="0">
                <a:solidFill>
                  <a:srgbClr val="423F3F"/>
                </a:solidFill>
              </a:rPr>
              <a:t>or the </a:t>
            </a:r>
            <a:r>
              <a:rPr lang="en-US" sz="2400" b="1" dirty="0">
                <a:solidFill>
                  <a:srgbClr val="423F3F"/>
                </a:solidFill>
              </a:rPr>
              <a:t>Evaluation Status </a:t>
            </a:r>
            <a:r>
              <a:rPr lang="en-US" sz="2400" dirty="0" smtClean="0">
                <a:solidFill>
                  <a:srgbClr val="423F3F"/>
                </a:solidFill>
              </a:rPr>
              <a:t>columns to navigate to the assignment rubric and to the </a:t>
            </a:r>
            <a:r>
              <a:rPr lang="en-US" sz="2400" b="1" dirty="0" smtClean="0">
                <a:solidFill>
                  <a:srgbClr val="006643"/>
                </a:solidFill>
              </a:rPr>
              <a:t>View Turnitin Online Grading link</a:t>
            </a:r>
            <a:r>
              <a:rPr lang="en-US" sz="2400" dirty="0" smtClean="0">
                <a:solidFill>
                  <a:srgbClr val="423F3F"/>
                </a:solidFill>
              </a:rPr>
              <a:t>, where you will find your individual feedback</a:t>
            </a:r>
          </a:p>
          <a:p>
            <a:pPr marL="514350" lvl="0" indent="-514350">
              <a:buClr>
                <a:srgbClr val="599A83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423F3F"/>
                </a:solidFill>
              </a:rPr>
              <a:t>Review the feedback from the </a:t>
            </a:r>
            <a:r>
              <a:rPr lang="en-US" sz="2400" b="1" dirty="0" smtClean="0">
                <a:solidFill>
                  <a:srgbClr val="423F3F"/>
                </a:solidFill>
              </a:rPr>
              <a:t>Assignment Rubric </a:t>
            </a:r>
            <a:r>
              <a:rPr lang="en-US" sz="2400" dirty="0" smtClean="0">
                <a:solidFill>
                  <a:srgbClr val="423F3F"/>
                </a:solidFill>
              </a:rPr>
              <a:t>for both your resume and cover letter</a:t>
            </a:r>
          </a:p>
          <a:p>
            <a:pPr marL="514350" lvl="0" indent="-514350">
              <a:buClr>
                <a:srgbClr val="599A83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423F3F"/>
                </a:solidFill>
              </a:rPr>
              <a:t>Scroll down the page to get to the </a:t>
            </a:r>
            <a:r>
              <a:rPr lang="en-US" sz="2400" b="1" dirty="0">
                <a:solidFill>
                  <a:srgbClr val="006643"/>
                </a:solidFill>
              </a:rPr>
              <a:t>View Turnitin Online </a:t>
            </a:r>
            <a:r>
              <a:rPr lang="en-US" sz="2400" b="1" dirty="0" smtClean="0">
                <a:solidFill>
                  <a:srgbClr val="006643"/>
                </a:solidFill>
              </a:rPr>
              <a:t>Grading </a:t>
            </a:r>
            <a:r>
              <a:rPr lang="en-US" sz="2400" dirty="0">
                <a:solidFill>
                  <a:srgbClr val="423F3F"/>
                </a:solidFill>
              </a:rPr>
              <a:t>link </a:t>
            </a:r>
            <a:r>
              <a:rPr lang="en-US" sz="2400" dirty="0" smtClean="0">
                <a:solidFill>
                  <a:srgbClr val="423F3F"/>
                </a:solidFill>
              </a:rPr>
              <a:t>and review your individual feedback</a:t>
            </a:r>
            <a:endParaRPr lang="en-US" sz="2400" dirty="0">
              <a:solidFill>
                <a:srgbClr val="423F3F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0" t="8080" r="10672" b="35928"/>
          <a:stretch/>
        </p:blipFill>
        <p:spPr>
          <a:xfrm>
            <a:off x="8630452" y="3834816"/>
            <a:ext cx="6845318" cy="26463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8854233" y="4452386"/>
            <a:ext cx="897334" cy="14463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3" t="8702" r="10672" b="47277"/>
          <a:stretch/>
        </p:blipFill>
        <p:spPr>
          <a:xfrm>
            <a:off x="7083729" y="6645615"/>
            <a:ext cx="6979295" cy="21725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7083729" y="6621854"/>
            <a:ext cx="821809" cy="15689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794" t="19687" r="11311" b="33297"/>
          <a:stretch/>
        </p:blipFill>
        <p:spPr>
          <a:xfrm>
            <a:off x="7182574" y="1432423"/>
            <a:ext cx="6638934" cy="219757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Rectangle 14"/>
          <p:cNvSpPr/>
          <p:nvPr/>
        </p:nvSpPr>
        <p:spPr>
          <a:xfrm>
            <a:off x="11245974" y="1397378"/>
            <a:ext cx="807137" cy="23081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2886503" y="1379792"/>
            <a:ext cx="1031997" cy="23081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61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576777"/>
            <a:ext cx="14216530" cy="1335973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4000" dirty="0" smtClean="0"/>
              <a:t>Individual Feedback - Turnitin Online Grading link</a:t>
            </a:r>
            <a:endParaRPr lang="en-US" sz="4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827152"/>
            <a:ext cx="5804050" cy="2881310"/>
          </a:xfrm>
        </p:spPr>
        <p:txBody>
          <a:bodyPr/>
          <a:lstStyle/>
          <a:p>
            <a:pPr marL="514350" lvl="0" indent="-514350">
              <a:buClr>
                <a:srgbClr val="599A83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423F3F"/>
                </a:solidFill>
              </a:rPr>
              <a:t>Follow the </a:t>
            </a:r>
            <a:r>
              <a:rPr lang="en-US" sz="2400" b="1" dirty="0" smtClean="0">
                <a:solidFill>
                  <a:srgbClr val="006643"/>
                </a:solidFill>
              </a:rPr>
              <a:t>View </a:t>
            </a:r>
            <a:r>
              <a:rPr lang="en-US" sz="2400" b="1" dirty="0">
                <a:solidFill>
                  <a:srgbClr val="006643"/>
                </a:solidFill>
              </a:rPr>
              <a:t>Turnitin Online Grading </a:t>
            </a:r>
            <a:r>
              <a:rPr lang="en-US" sz="2400" dirty="0" smtClean="0">
                <a:solidFill>
                  <a:srgbClr val="423F3F"/>
                </a:solidFill>
              </a:rPr>
              <a:t>link to review your individual resume and cover letter feedback</a:t>
            </a:r>
          </a:p>
          <a:p>
            <a:pPr marL="514350" lvl="0" indent="-514350">
              <a:buClr>
                <a:srgbClr val="599A83"/>
              </a:buClr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rgbClr val="423F3F"/>
                </a:solidFill>
              </a:rPr>
              <a:t>Open </a:t>
            </a:r>
            <a:r>
              <a:rPr lang="en-US" sz="2400" b="1" dirty="0" smtClean="0">
                <a:solidFill>
                  <a:srgbClr val="423F3F"/>
                </a:solidFill>
              </a:rPr>
              <a:t>Turnitin</a:t>
            </a:r>
            <a:r>
              <a:rPr lang="en-US" sz="2400" dirty="0" smtClean="0">
                <a:solidFill>
                  <a:srgbClr val="423F3F"/>
                </a:solidFill>
              </a:rPr>
              <a:t> and click on each of the feedback points to review your detailed feedback and suggestions</a:t>
            </a:r>
            <a:endParaRPr lang="en-US" sz="2400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209" t="10878" r="9624" b="19503"/>
          <a:stretch/>
        </p:blipFill>
        <p:spPr>
          <a:xfrm>
            <a:off x="7938731" y="1677768"/>
            <a:ext cx="6672486" cy="31800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11359662" y="4033228"/>
            <a:ext cx="1758462" cy="7813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0" t="7844" r="25423" b="13073"/>
          <a:stretch/>
        </p:blipFill>
        <p:spPr>
          <a:xfrm>
            <a:off x="1114784" y="4857846"/>
            <a:ext cx="6163047" cy="37393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91" r="27630" b="24007"/>
          <a:stretch/>
        </p:blipFill>
        <p:spPr>
          <a:xfrm>
            <a:off x="8048594" y="5155614"/>
            <a:ext cx="6452760" cy="3390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Rectangle 12"/>
          <p:cNvSpPr/>
          <p:nvPr/>
        </p:nvSpPr>
        <p:spPr>
          <a:xfrm>
            <a:off x="2631831" y="5363309"/>
            <a:ext cx="1758462" cy="21420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1274974" y="5155615"/>
            <a:ext cx="1758462" cy="22134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0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0.17.1.1417"/>
  <p:tag name="SLIDO_PRESENTATION_ID" val="00000000-0000-0000-0000-000000000000"/>
  <p:tag name="SLIDO_EVENT_UUID" val="b5f0c569-7237-47ed-82db-60e33af35672"/>
  <p:tag name="SLIDO_EVENT_SECTION_UUID" val="d948f902-94c7-4241-8fce-7ccd4954d4f4"/>
</p:tagLst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19602</TotalTime>
  <Words>265</Words>
  <Application>Microsoft Office PowerPoint</Application>
  <PresentationFormat>Custom</PresentationFormat>
  <Paragraphs>27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 Theme</vt:lpstr>
      <vt:lpstr>    Job Application Package Assignment</vt:lpstr>
      <vt:lpstr>Job Application Package Assignment – Evaluation and Feedback</vt:lpstr>
      <vt:lpstr>Co-op Job Application Package Assignment – Rubric</vt:lpstr>
      <vt:lpstr>Individual Feedback - Turnitin Online Grading link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Tetyana Semenovych</cp:lastModifiedBy>
  <cp:revision>509</cp:revision>
  <dcterms:created xsi:type="dcterms:W3CDTF">2016-12-21T16:02:28Z</dcterms:created>
  <dcterms:modified xsi:type="dcterms:W3CDTF">2023-08-09T02:32:46Z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0.17.1.1417</vt:lpwstr>
  </property>
</Properties>
</file>