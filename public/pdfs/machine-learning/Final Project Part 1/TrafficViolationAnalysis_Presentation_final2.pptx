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6"/>
  </p:notesMasterIdLst>
  <p:sldIdLst>
    <p:sldId id="271" r:id="rId5"/>
    <p:sldId id="409" r:id="rId6"/>
    <p:sldId id="412" r:id="rId7"/>
    <p:sldId id="413" r:id="rId8"/>
    <p:sldId id="414" r:id="rId9"/>
    <p:sldId id="415" r:id="rId10"/>
    <p:sldId id="439" r:id="rId11"/>
    <p:sldId id="428" r:id="rId12"/>
    <p:sldId id="434" r:id="rId13"/>
    <p:sldId id="416" r:id="rId14"/>
    <p:sldId id="429" r:id="rId15"/>
    <p:sldId id="437" r:id="rId16"/>
    <p:sldId id="431" r:id="rId17"/>
    <p:sldId id="419" r:id="rId18"/>
    <p:sldId id="435" r:id="rId19"/>
    <p:sldId id="417" r:id="rId20"/>
    <p:sldId id="432" r:id="rId21"/>
    <p:sldId id="433" r:id="rId22"/>
    <p:sldId id="426" r:id="rId23"/>
    <p:sldId id="420" r:id="rId24"/>
    <p:sldId id="424"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452F48-1764-4C68-A9B4-98917CCE104E}" v="20" dt="2025-12-02T19:54:02.9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2326" autoAdjust="0"/>
  </p:normalViewPr>
  <p:slideViewPr>
    <p:cSldViewPr snapToGrid="0" snapToObjects="1">
      <p:cViewPr varScale="1">
        <p:scale>
          <a:sx n="68" d="100"/>
          <a:sy n="68" d="100"/>
        </p:scale>
        <p:origin x="2132" y="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867FAF-C12C-4D5E-8AC7-67D4BD16FF35}" type="datetimeFigureOut">
              <a:rPr lang="en-CA" smtClean="0"/>
              <a:t>2025-12-02</a:t>
            </a:fld>
            <a:endParaRPr lang="en-CA"/>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5B9636-D435-4C65-BBB8-5735E39444CD}" type="slidenum">
              <a:rPr lang="en-CA" smtClean="0"/>
              <a:t>‹#›</a:t>
            </a:fld>
            <a:endParaRPr lang="en-CA"/>
          </a:p>
        </p:txBody>
      </p:sp>
    </p:spTree>
    <p:extLst>
      <p:ext uri="{BB962C8B-B14F-4D97-AF65-F5344CB8AC3E}">
        <p14:creationId xmlns:p14="http://schemas.microsoft.com/office/powerpoint/2010/main" val="14892431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Frank</a:t>
            </a:r>
          </a:p>
          <a:p>
            <a:br>
              <a:rPr lang="en-CA" dirty="0"/>
            </a:br>
            <a:r>
              <a:rPr lang="en-US" altLang="zh-CN" sz="1200" b="0" kern="1200" dirty="0">
                <a:solidFill>
                  <a:schemeClr val="tx1"/>
                </a:solidFill>
                <a:effectLst/>
                <a:latin typeface="+mn-lt"/>
                <a:ea typeface="+mn-ea"/>
                <a:cs typeface="+mn-cs"/>
              </a:rPr>
              <a:t>Hello everyone! Today I'm presenting our traffic violation analysis project. Our project objective is to analyze traffic violation patterns in Montgomery County and identify key contributing factors using machine learning techniques.</a:t>
            </a:r>
          </a:p>
          <a:p>
            <a:br>
              <a:rPr lang="en-US" altLang="zh-CN" sz="1200" b="0" kern="1200" dirty="0">
                <a:solidFill>
                  <a:schemeClr val="tx1"/>
                </a:solidFill>
                <a:effectLst/>
                <a:latin typeface="+mn-lt"/>
                <a:ea typeface="+mn-ea"/>
                <a:cs typeface="+mn-cs"/>
              </a:rPr>
            </a:br>
            <a:endParaRPr lang="en-US" altLang="zh-CN" sz="1200" b="0" kern="1200" dirty="0">
              <a:solidFill>
                <a:schemeClr val="tx1"/>
              </a:solidFill>
              <a:effectLst/>
              <a:latin typeface="+mn-lt"/>
              <a:ea typeface="+mn-ea"/>
              <a:cs typeface="+mn-cs"/>
            </a:endParaRPr>
          </a:p>
          <a:p>
            <a:r>
              <a:rPr lang="en-US" altLang="zh-CN" sz="1200" b="0" kern="1200" dirty="0">
                <a:solidFill>
                  <a:schemeClr val="tx1"/>
                </a:solidFill>
                <a:effectLst/>
                <a:latin typeface="+mn-lt"/>
                <a:ea typeface="+mn-ea"/>
                <a:cs typeface="+mn-cs"/>
              </a:rPr>
              <a:t>Our business question is: "What are the key contributing factors that lead to different types of traffic violations?"</a:t>
            </a:r>
          </a:p>
          <a:p>
            <a:br>
              <a:rPr lang="en-US" altLang="zh-CN" sz="1200" b="0" kern="1200" dirty="0">
                <a:solidFill>
                  <a:schemeClr val="tx1"/>
                </a:solidFill>
                <a:effectLst/>
                <a:latin typeface="+mn-lt"/>
                <a:ea typeface="+mn-ea"/>
                <a:cs typeface="+mn-cs"/>
              </a:rPr>
            </a:br>
            <a:endParaRPr lang="en-US" altLang="zh-CN" sz="1200" b="0" kern="1200" dirty="0">
              <a:solidFill>
                <a:schemeClr val="tx1"/>
              </a:solidFill>
              <a:effectLst/>
              <a:latin typeface="+mn-lt"/>
              <a:ea typeface="+mn-ea"/>
              <a:cs typeface="+mn-cs"/>
            </a:endParaRPr>
          </a:p>
          <a:p>
            <a:r>
              <a:rPr lang="en-US" altLang="zh-CN" sz="1200" b="0" kern="1200" dirty="0">
                <a:solidFill>
                  <a:schemeClr val="tx1"/>
                </a:solidFill>
                <a:effectLst/>
                <a:latin typeface="+mn-lt"/>
                <a:ea typeface="+mn-ea"/>
                <a:cs typeface="+mn-cs"/>
              </a:rPr>
              <a:t>We analyzed a dataset from Montgomery County Traffic Violations. The dataset has 2,057,983 records and 43 columns.</a:t>
            </a:r>
          </a:p>
          <a:p>
            <a:br>
              <a:rPr lang="en-US" altLang="zh-CN" sz="1200" b="0" kern="1200" dirty="0">
                <a:solidFill>
                  <a:schemeClr val="tx1"/>
                </a:solidFill>
                <a:effectLst/>
                <a:latin typeface="+mn-lt"/>
                <a:ea typeface="+mn-ea"/>
                <a:cs typeface="+mn-cs"/>
              </a:rPr>
            </a:br>
            <a:endParaRPr lang="en-US" altLang="zh-CN" sz="1200" b="0" kern="1200" dirty="0">
              <a:solidFill>
                <a:schemeClr val="tx1"/>
              </a:solidFill>
              <a:effectLst/>
              <a:latin typeface="+mn-lt"/>
              <a:ea typeface="+mn-ea"/>
              <a:cs typeface="+mn-cs"/>
            </a:endParaRPr>
          </a:p>
          <a:p>
            <a:r>
              <a:rPr lang="en-US" altLang="zh-CN" sz="1200" b="0" kern="1200" dirty="0">
                <a:solidFill>
                  <a:schemeClr val="tx1"/>
                </a:solidFill>
                <a:effectLst/>
                <a:latin typeface="+mn-lt"/>
                <a:ea typeface="+mn-ea"/>
                <a:cs typeface="+mn-cs"/>
              </a:rPr>
              <a:t>We used three machine learning approaches. First, Hye Ran Yoo used Classification with Decision Tree. Second, Joseph Weng used Clustering with </a:t>
            </a:r>
            <a:r>
              <a:rPr lang="en-US" altLang="zh-CN" sz="1200" b="0" kern="1200" dirty="0" err="1">
                <a:solidFill>
                  <a:schemeClr val="tx1"/>
                </a:solidFill>
                <a:effectLst/>
                <a:latin typeface="+mn-lt"/>
                <a:ea typeface="+mn-ea"/>
                <a:cs typeface="+mn-cs"/>
              </a:rPr>
              <a:t>KMeans</a:t>
            </a:r>
            <a:r>
              <a:rPr lang="en-US" altLang="zh-CN" sz="1200" b="0" kern="1200" dirty="0">
                <a:solidFill>
                  <a:schemeClr val="tx1"/>
                </a:solidFill>
                <a:effectLst/>
                <a:latin typeface="+mn-lt"/>
                <a:ea typeface="+mn-ea"/>
                <a:cs typeface="+mn-cs"/>
              </a:rPr>
              <a:t>. Third, Peng Wang used Outlier Detection with LOF and Distance methods.</a:t>
            </a:r>
          </a:p>
          <a:p>
            <a:br>
              <a:rPr lang="en-US" altLang="zh-CN" sz="1200" b="0" kern="1200" dirty="0">
                <a:solidFill>
                  <a:schemeClr val="tx1"/>
                </a:solidFill>
                <a:effectLst/>
                <a:latin typeface="+mn-lt"/>
                <a:ea typeface="+mn-ea"/>
                <a:cs typeface="+mn-cs"/>
              </a:rPr>
            </a:br>
            <a:endParaRPr lang="en-US" altLang="zh-CN" sz="1200" b="0" kern="1200" dirty="0">
              <a:solidFill>
                <a:schemeClr val="tx1"/>
              </a:solidFill>
              <a:effectLst/>
              <a:latin typeface="+mn-lt"/>
              <a:ea typeface="+mn-ea"/>
              <a:cs typeface="+mn-cs"/>
            </a:endParaRPr>
          </a:p>
          <a:p>
            <a:r>
              <a:rPr lang="en-US" altLang="zh-CN" sz="1200" b="0" kern="1200" dirty="0">
                <a:solidFill>
                  <a:schemeClr val="tx1"/>
                </a:solidFill>
                <a:effectLst/>
                <a:latin typeface="+mn-lt"/>
                <a:ea typeface="+mn-ea"/>
                <a:cs typeface="+mn-cs"/>
              </a:rPr>
              <a:t>These three approaches work together to identify key factors, discover patterns, and find unusual cases. This analysis helps improve traffic safety and resource allocation. Thank you!</a:t>
            </a:r>
          </a:p>
          <a:p>
            <a:endParaRPr lang="en-CA" dirty="0"/>
          </a:p>
        </p:txBody>
      </p:sp>
      <p:sp>
        <p:nvSpPr>
          <p:cNvPr id="4" name="Slide Number Placeholder 3"/>
          <p:cNvSpPr>
            <a:spLocks noGrp="1"/>
          </p:cNvSpPr>
          <p:nvPr>
            <p:ph type="sldNum" sz="quarter" idx="5"/>
          </p:nvPr>
        </p:nvSpPr>
        <p:spPr/>
        <p:txBody>
          <a:bodyPr/>
          <a:lstStyle/>
          <a:p>
            <a:fld id="{565B9636-D435-4C65-BBB8-5735E39444CD}" type="slidenum">
              <a:rPr lang="en-CA" smtClean="0"/>
              <a:t>2</a:t>
            </a:fld>
            <a:endParaRPr lang="en-CA"/>
          </a:p>
        </p:txBody>
      </p:sp>
    </p:spTree>
    <p:extLst>
      <p:ext uri="{BB962C8B-B14F-4D97-AF65-F5344CB8AC3E}">
        <p14:creationId xmlns:p14="http://schemas.microsoft.com/office/powerpoint/2010/main" val="38616800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Frank</a:t>
            </a:r>
          </a:p>
          <a:p>
            <a:endParaRPr lang="en-CA" dirty="0"/>
          </a:p>
          <a:p>
            <a:r>
              <a:rPr lang="en-US" altLang="zh-CN" sz="1200" b="0" kern="1200" dirty="0">
                <a:solidFill>
                  <a:schemeClr val="tx1"/>
                </a:solidFill>
                <a:effectLst/>
                <a:latin typeface="+mn-lt"/>
                <a:ea typeface="+mn-ea"/>
                <a:cs typeface="+mn-cs"/>
              </a:rPr>
              <a:t>Our project has four main business objectives. First, enhance public safety by identifying patterns in traffic violations. Second, optimize resource allocation to help law enforcement use their resources more efficiently. Third, improve traffic management by understanding contributing factors. Fourth, detect anomalies that may need special attention.</a:t>
            </a:r>
          </a:p>
          <a:p>
            <a:br>
              <a:rPr lang="en-US" altLang="zh-CN" sz="1200" b="0" kern="1200" dirty="0">
                <a:solidFill>
                  <a:schemeClr val="tx1"/>
                </a:solidFill>
                <a:effectLst/>
                <a:latin typeface="+mn-lt"/>
                <a:ea typeface="+mn-ea"/>
                <a:cs typeface="+mn-cs"/>
              </a:rPr>
            </a:br>
            <a:endParaRPr lang="en-US" altLang="zh-CN" sz="1200" b="0" kern="1200" dirty="0">
              <a:solidFill>
                <a:schemeClr val="tx1"/>
              </a:solidFill>
              <a:effectLst/>
              <a:latin typeface="+mn-lt"/>
              <a:ea typeface="+mn-ea"/>
              <a:cs typeface="+mn-cs"/>
            </a:endParaRPr>
          </a:p>
          <a:p>
            <a:r>
              <a:rPr lang="en-US" altLang="zh-CN" sz="1200" b="0" kern="1200" dirty="0">
                <a:solidFill>
                  <a:schemeClr val="tx1"/>
                </a:solidFill>
                <a:effectLst/>
                <a:latin typeface="+mn-lt"/>
                <a:ea typeface="+mn-ea"/>
                <a:cs typeface="+mn-cs"/>
              </a:rPr>
              <a:t>For our data mining goals, we have three specific targets. For classification, we aim to identify key factors with over 70% accuracy using Decision Trees. For clustering, we want to discover common violation patterns using </a:t>
            </a:r>
            <a:r>
              <a:rPr lang="en-US" altLang="zh-CN" sz="1200" b="0" kern="1200" dirty="0" err="1">
                <a:solidFill>
                  <a:schemeClr val="tx1"/>
                </a:solidFill>
                <a:effectLst/>
                <a:latin typeface="+mn-lt"/>
                <a:ea typeface="+mn-ea"/>
                <a:cs typeface="+mn-cs"/>
              </a:rPr>
              <a:t>KMeans</a:t>
            </a:r>
            <a:r>
              <a:rPr lang="en-US" altLang="zh-CN" sz="1200" b="0" kern="1200" dirty="0">
                <a:solidFill>
                  <a:schemeClr val="tx1"/>
                </a:solidFill>
                <a:effectLst/>
                <a:latin typeface="+mn-lt"/>
                <a:ea typeface="+mn-ea"/>
                <a:cs typeface="+mn-cs"/>
              </a:rPr>
              <a:t>. For outlier detection, we plan to find anomalous violations using LOF and Distance methods.</a:t>
            </a:r>
          </a:p>
          <a:p>
            <a:br>
              <a:rPr lang="en-US" altLang="zh-CN" sz="1200" b="0" kern="1200" dirty="0">
                <a:solidFill>
                  <a:schemeClr val="tx1"/>
                </a:solidFill>
                <a:effectLst/>
                <a:latin typeface="+mn-lt"/>
                <a:ea typeface="+mn-ea"/>
                <a:cs typeface="+mn-cs"/>
              </a:rPr>
            </a:br>
            <a:endParaRPr lang="en-US" altLang="zh-CN" sz="1200" b="0" kern="1200" dirty="0">
              <a:solidFill>
                <a:schemeClr val="tx1"/>
              </a:solidFill>
              <a:effectLst/>
              <a:latin typeface="+mn-lt"/>
              <a:ea typeface="+mn-ea"/>
              <a:cs typeface="+mn-cs"/>
            </a:endParaRPr>
          </a:p>
          <a:p>
            <a:r>
              <a:rPr lang="en-US" altLang="zh-CN" sz="1200" b="0" kern="1200" dirty="0">
                <a:solidFill>
                  <a:schemeClr val="tx1"/>
                </a:solidFill>
                <a:effectLst/>
                <a:latin typeface="+mn-lt"/>
                <a:ea typeface="+mn-ea"/>
                <a:cs typeface="+mn-cs"/>
              </a:rPr>
              <a:t>These goals guide our analysis and help us achieve our business objectives. Thank you!</a:t>
            </a:r>
          </a:p>
          <a:p>
            <a:endParaRPr lang="en-CA" dirty="0"/>
          </a:p>
        </p:txBody>
      </p:sp>
      <p:sp>
        <p:nvSpPr>
          <p:cNvPr id="4" name="Slide Number Placeholder 3"/>
          <p:cNvSpPr>
            <a:spLocks noGrp="1"/>
          </p:cNvSpPr>
          <p:nvPr>
            <p:ph type="sldNum" sz="quarter" idx="5"/>
          </p:nvPr>
        </p:nvSpPr>
        <p:spPr/>
        <p:txBody>
          <a:bodyPr/>
          <a:lstStyle/>
          <a:p>
            <a:fld id="{565B9636-D435-4C65-BBB8-5735E39444CD}" type="slidenum">
              <a:rPr lang="en-CA" smtClean="0"/>
              <a:t>3</a:t>
            </a:fld>
            <a:endParaRPr lang="en-CA"/>
          </a:p>
        </p:txBody>
      </p:sp>
    </p:spTree>
    <p:extLst>
      <p:ext uri="{BB962C8B-B14F-4D97-AF65-F5344CB8AC3E}">
        <p14:creationId xmlns:p14="http://schemas.microsoft.com/office/powerpoint/2010/main" val="37598761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Lannie</a:t>
            </a:r>
          </a:p>
          <a:p>
            <a:endParaRPr lang="en-CA" dirty="0"/>
          </a:p>
        </p:txBody>
      </p:sp>
      <p:sp>
        <p:nvSpPr>
          <p:cNvPr id="4" name="Slide Number Placeholder 3"/>
          <p:cNvSpPr>
            <a:spLocks noGrp="1"/>
          </p:cNvSpPr>
          <p:nvPr>
            <p:ph type="sldNum" sz="quarter" idx="5"/>
          </p:nvPr>
        </p:nvSpPr>
        <p:spPr/>
        <p:txBody>
          <a:bodyPr/>
          <a:lstStyle/>
          <a:p>
            <a:fld id="{565B9636-D435-4C65-BBB8-5735E39444CD}" type="slidenum">
              <a:rPr lang="en-CA" smtClean="0"/>
              <a:t>4</a:t>
            </a:fld>
            <a:endParaRPr lang="en-CA"/>
          </a:p>
        </p:txBody>
      </p:sp>
    </p:spTree>
    <p:extLst>
      <p:ext uri="{BB962C8B-B14F-4D97-AF65-F5344CB8AC3E}">
        <p14:creationId xmlns:p14="http://schemas.microsoft.com/office/powerpoint/2010/main" val="35827976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Joseph</a:t>
            </a:r>
          </a:p>
          <a:p>
            <a:endParaRPr lang="en-CA" dirty="0"/>
          </a:p>
        </p:txBody>
      </p:sp>
      <p:sp>
        <p:nvSpPr>
          <p:cNvPr id="4" name="Slide Number Placeholder 3"/>
          <p:cNvSpPr>
            <a:spLocks noGrp="1"/>
          </p:cNvSpPr>
          <p:nvPr>
            <p:ph type="sldNum" sz="quarter" idx="5"/>
          </p:nvPr>
        </p:nvSpPr>
        <p:spPr/>
        <p:txBody>
          <a:bodyPr/>
          <a:lstStyle/>
          <a:p>
            <a:fld id="{565B9636-D435-4C65-BBB8-5735E39444CD}" type="slidenum">
              <a:rPr lang="en-CA" smtClean="0"/>
              <a:t>5</a:t>
            </a:fld>
            <a:endParaRPr lang="en-CA"/>
          </a:p>
        </p:txBody>
      </p:sp>
    </p:spTree>
    <p:extLst>
      <p:ext uri="{BB962C8B-B14F-4D97-AF65-F5344CB8AC3E}">
        <p14:creationId xmlns:p14="http://schemas.microsoft.com/office/powerpoint/2010/main" val="38756247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Lannie</a:t>
            </a:r>
          </a:p>
          <a:p>
            <a:endParaRPr lang="en-CA" dirty="0"/>
          </a:p>
        </p:txBody>
      </p:sp>
      <p:sp>
        <p:nvSpPr>
          <p:cNvPr id="4" name="Slide Number Placeholder 3"/>
          <p:cNvSpPr>
            <a:spLocks noGrp="1"/>
          </p:cNvSpPr>
          <p:nvPr>
            <p:ph type="sldNum" sz="quarter" idx="5"/>
          </p:nvPr>
        </p:nvSpPr>
        <p:spPr/>
        <p:txBody>
          <a:bodyPr/>
          <a:lstStyle/>
          <a:p>
            <a:fld id="{565B9636-D435-4C65-BBB8-5735E39444CD}" type="slidenum">
              <a:rPr lang="en-CA" smtClean="0"/>
              <a:t>6</a:t>
            </a:fld>
            <a:endParaRPr lang="en-CA"/>
          </a:p>
        </p:txBody>
      </p:sp>
    </p:spTree>
    <p:extLst>
      <p:ext uri="{BB962C8B-B14F-4D97-AF65-F5344CB8AC3E}">
        <p14:creationId xmlns:p14="http://schemas.microsoft.com/office/powerpoint/2010/main" val="34106905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0FE21-AE9D-BD8A-AC70-F763E50303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32DB1E-FA98-E947-3733-2D63D5850B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A0C738-024B-3A4B-2124-73C27D72E19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Lannie</a:t>
            </a:r>
          </a:p>
          <a:p>
            <a:endParaRPr lang="en-CA" dirty="0"/>
          </a:p>
        </p:txBody>
      </p:sp>
      <p:sp>
        <p:nvSpPr>
          <p:cNvPr id="4" name="Slide Number Placeholder 3">
            <a:extLst>
              <a:ext uri="{FF2B5EF4-FFF2-40B4-BE49-F238E27FC236}">
                <a16:creationId xmlns:a16="http://schemas.microsoft.com/office/drawing/2014/main" id="{7213A58D-FB31-99CF-5E77-BC31A368180E}"/>
              </a:ext>
            </a:extLst>
          </p:cNvPr>
          <p:cNvSpPr>
            <a:spLocks noGrp="1"/>
          </p:cNvSpPr>
          <p:nvPr>
            <p:ph type="sldNum" sz="quarter" idx="5"/>
          </p:nvPr>
        </p:nvSpPr>
        <p:spPr/>
        <p:txBody>
          <a:bodyPr/>
          <a:lstStyle/>
          <a:p>
            <a:fld id="{565B9636-D435-4C65-BBB8-5735E39444CD}" type="slidenum">
              <a:rPr lang="en-CA" smtClean="0"/>
              <a:t>7</a:t>
            </a:fld>
            <a:endParaRPr lang="en-CA"/>
          </a:p>
        </p:txBody>
      </p:sp>
    </p:spTree>
    <p:extLst>
      <p:ext uri="{BB962C8B-B14F-4D97-AF65-F5344CB8AC3E}">
        <p14:creationId xmlns:p14="http://schemas.microsoft.com/office/powerpoint/2010/main" val="37930095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FF18E-E682-A556-3F09-7BB0B27A22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7B6057-1638-C96C-C651-5A2F062176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C04FFB-0F71-B43C-45D0-ABDA6C4A613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Lannie</a:t>
            </a:r>
          </a:p>
          <a:p>
            <a:endParaRPr lang="en-CA" dirty="0"/>
          </a:p>
        </p:txBody>
      </p:sp>
      <p:sp>
        <p:nvSpPr>
          <p:cNvPr id="4" name="Slide Number Placeholder 3">
            <a:extLst>
              <a:ext uri="{FF2B5EF4-FFF2-40B4-BE49-F238E27FC236}">
                <a16:creationId xmlns:a16="http://schemas.microsoft.com/office/drawing/2014/main" id="{120C0DD4-A101-E543-3D32-2BCC7881CEB5}"/>
              </a:ext>
            </a:extLst>
          </p:cNvPr>
          <p:cNvSpPr>
            <a:spLocks noGrp="1"/>
          </p:cNvSpPr>
          <p:nvPr>
            <p:ph type="sldNum" sz="quarter" idx="5"/>
          </p:nvPr>
        </p:nvSpPr>
        <p:spPr/>
        <p:txBody>
          <a:bodyPr/>
          <a:lstStyle/>
          <a:p>
            <a:fld id="{565B9636-D435-4C65-BBB8-5735E39444CD}" type="slidenum">
              <a:rPr lang="en-CA" smtClean="0"/>
              <a:t>8</a:t>
            </a:fld>
            <a:endParaRPr lang="en-CA"/>
          </a:p>
        </p:txBody>
      </p:sp>
    </p:spTree>
    <p:extLst>
      <p:ext uri="{BB962C8B-B14F-4D97-AF65-F5344CB8AC3E}">
        <p14:creationId xmlns:p14="http://schemas.microsoft.com/office/powerpoint/2010/main" val="26841696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9A6DB-0803-D64F-DAA8-5584908DB6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448D58-4425-E7B6-D327-288EFE7555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527979-9711-797F-C5D2-A68B11B36CB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Lannie</a:t>
            </a:r>
          </a:p>
          <a:p>
            <a:endParaRPr lang="en-CA" dirty="0"/>
          </a:p>
        </p:txBody>
      </p:sp>
      <p:sp>
        <p:nvSpPr>
          <p:cNvPr id="4" name="Slide Number Placeholder 3">
            <a:extLst>
              <a:ext uri="{FF2B5EF4-FFF2-40B4-BE49-F238E27FC236}">
                <a16:creationId xmlns:a16="http://schemas.microsoft.com/office/drawing/2014/main" id="{935A9EA6-D6BB-57E1-7CBC-093A1ECC4DB0}"/>
              </a:ext>
            </a:extLst>
          </p:cNvPr>
          <p:cNvSpPr>
            <a:spLocks noGrp="1"/>
          </p:cNvSpPr>
          <p:nvPr>
            <p:ph type="sldNum" sz="quarter" idx="5"/>
          </p:nvPr>
        </p:nvSpPr>
        <p:spPr/>
        <p:txBody>
          <a:bodyPr/>
          <a:lstStyle/>
          <a:p>
            <a:fld id="{565B9636-D435-4C65-BBB8-5735E39444CD}" type="slidenum">
              <a:rPr lang="en-CA" smtClean="0"/>
              <a:t>9</a:t>
            </a:fld>
            <a:endParaRPr lang="en-CA"/>
          </a:p>
        </p:txBody>
      </p:sp>
    </p:spTree>
    <p:extLst>
      <p:ext uri="{BB962C8B-B14F-4D97-AF65-F5344CB8AC3E}">
        <p14:creationId xmlns:p14="http://schemas.microsoft.com/office/powerpoint/2010/main" val="27055730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Joseph</a:t>
            </a:r>
          </a:p>
          <a:p>
            <a:endParaRPr lang="en-CA" dirty="0"/>
          </a:p>
        </p:txBody>
      </p:sp>
      <p:sp>
        <p:nvSpPr>
          <p:cNvPr id="4" name="Slide Number Placeholder 3"/>
          <p:cNvSpPr>
            <a:spLocks noGrp="1"/>
          </p:cNvSpPr>
          <p:nvPr>
            <p:ph type="sldNum" sz="quarter" idx="5"/>
          </p:nvPr>
        </p:nvSpPr>
        <p:spPr/>
        <p:txBody>
          <a:bodyPr/>
          <a:lstStyle/>
          <a:p>
            <a:fld id="{565B9636-D435-4C65-BBB8-5735E39444CD}" type="slidenum">
              <a:rPr lang="en-CA" smtClean="0"/>
              <a:t>10</a:t>
            </a:fld>
            <a:endParaRPr lang="en-CA"/>
          </a:p>
        </p:txBody>
      </p:sp>
    </p:spTree>
    <p:extLst>
      <p:ext uri="{BB962C8B-B14F-4D97-AF65-F5344CB8AC3E}">
        <p14:creationId xmlns:p14="http://schemas.microsoft.com/office/powerpoint/2010/main" val="29836480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DA7ED-91BA-C332-7763-9A4E1E4DB3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7FA8BD-A805-6A8D-1DB3-76BBC8D137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833763-28D7-97A4-2EC1-33110C30CAB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Joseph</a:t>
            </a:r>
          </a:p>
          <a:p>
            <a:endParaRPr lang="en-CA" dirty="0"/>
          </a:p>
        </p:txBody>
      </p:sp>
      <p:sp>
        <p:nvSpPr>
          <p:cNvPr id="4" name="Slide Number Placeholder 3">
            <a:extLst>
              <a:ext uri="{FF2B5EF4-FFF2-40B4-BE49-F238E27FC236}">
                <a16:creationId xmlns:a16="http://schemas.microsoft.com/office/drawing/2014/main" id="{34454C9B-28BC-FB0C-57DC-4E43F21ADB9E}"/>
              </a:ext>
            </a:extLst>
          </p:cNvPr>
          <p:cNvSpPr>
            <a:spLocks noGrp="1"/>
          </p:cNvSpPr>
          <p:nvPr>
            <p:ph type="sldNum" sz="quarter" idx="5"/>
          </p:nvPr>
        </p:nvSpPr>
        <p:spPr/>
        <p:txBody>
          <a:bodyPr/>
          <a:lstStyle/>
          <a:p>
            <a:fld id="{565B9636-D435-4C65-BBB8-5735E39444CD}" type="slidenum">
              <a:rPr lang="en-CA" smtClean="0"/>
              <a:t>11</a:t>
            </a:fld>
            <a:endParaRPr lang="en-CA"/>
          </a:p>
        </p:txBody>
      </p:sp>
    </p:spTree>
    <p:extLst>
      <p:ext uri="{BB962C8B-B14F-4D97-AF65-F5344CB8AC3E}">
        <p14:creationId xmlns:p14="http://schemas.microsoft.com/office/powerpoint/2010/main" val="28555667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C23FD-85FF-4FC1-3048-2FC439F4BE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A43654-BA10-C5E9-786D-4C491D2218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5D59FC-81DB-7677-158E-BEB8A1BDE50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Joseph</a:t>
            </a:r>
          </a:p>
          <a:p>
            <a:endParaRPr lang="en-CA" dirty="0"/>
          </a:p>
        </p:txBody>
      </p:sp>
      <p:sp>
        <p:nvSpPr>
          <p:cNvPr id="4" name="Slide Number Placeholder 3">
            <a:extLst>
              <a:ext uri="{FF2B5EF4-FFF2-40B4-BE49-F238E27FC236}">
                <a16:creationId xmlns:a16="http://schemas.microsoft.com/office/drawing/2014/main" id="{F25F0CA9-CAFA-9042-C87E-3F281AEDABA6}"/>
              </a:ext>
            </a:extLst>
          </p:cNvPr>
          <p:cNvSpPr>
            <a:spLocks noGrp="1"/>
          </p:cNvSpPr>
          <p:nvPr>
            <p:ph type="sldNum" sz="quarter" idx="5"/>
          </p:nvPr>
        </p:nvSpPr>
        <p:spPr/>
        <p:txBody>
          <a:bodyPr/>
          <a:lstStyle/>
          <a:p>
            <a:fld id="{565B9636-D435-4C65-BBB8-5735E39444CD}" type="slidenum">
              <a:rPr lang="en-CA" smtClean="0"/>
              <a:t>12</a:t>
            </a:fld>
            <a:endParaRPr lang="en-CA"/>
          </a:p>
        </p:txBody>
      </p:sp>
    </p:spTree>
    <p:extLst>
      <p:ext uri="{BB962C8B-B14F-4D97-AF65-F5344CB8AC3E}">
        <p14:creationId xmlns:p14="http://schemas.microsoft.com/office/powerpoint/2010/main" val="15817652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5A800-B47A-20B4-36EC-67C6EBDE81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B3C499-FF88-86AC-CD78-8CE81F45EC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817379-EDDE-247D-9516-F2AB34D468A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Joseph</a:t>
            </a:r>
          </a:p>
          <a:p>
            <a:endParaRPr lang="en-CA" dirty="0"/>
          </a:p>
        </p:txBody>
      </p:sp>
      <p:sp>
        <p:nvSpPr>
          <p:cNvPr id="4" name="Slide Number Placeholder 3">
            <a:extLst>
              <a:ext uri="{FF2B5EF4-FFF2-40B4-BE49-F238E27FC236}">
                <a16:creationId xmlns:a16="http://schemas.microsoft.com/office/drawing/2014/main" id="{7BD8714A-6E8B-F883-733A-A57831F74A54}"/>
              </a:ext>
            </a:extLst>
          </p:cNvPr>
          <p:cNvSpPr>
            <a:spLocks noGrp="1"/>
          </p:cNvSpPr>
          <p:nvPr>
            <p:ph type="sldNum" sz="quarter" idx="5"/>
          </p:nvPr>
        </p:nvSpPr>
        <p:spPr/>
        <p:txBody>
          <a:bodyPr/>
          <a:lstStyle/>
          <a:p>
            <a:fld id="{565B9636-D435-4C65-BBB8-5735E39444CD}" type="slidenum">
              <a:rPr lang="en-CA" smtClean="0"/>
              <a:t>13</a:t>
            </a:fld>
            <a:endParaRPr lang="en-CA"/>
          </a:p>
        </p:txBody>
      </p:sp>
    </p:spTree>
    <p:extLst>
      <p:ext uri="{BB962C8B-B14F-4D97-AF65-F5344CB8AC3E}">
        <p14:creationId xmlns:p14="http://schemas.microsoft.com/office/powerpoint/2010/main" val="1825381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Joseph</a:t>
            </a:r>
          </a:p>
          <a:p>
            <a:endParaRPr lang="en-CA" dirty="0"/>
          </a:p>
        </p:txBody>
      </p:sp>
      <p:sp>
        <p:nvSpPr>
          <p:cNvPr id="4" name="Slide Number Placeholder 3"/>
          <p:cNvSpPr>
            <a:spLocks noGrp="1"/>
          </p:cNvSpPr>
          <p:nvPr>
            <p:ph type="sldNum" sz="quarter" idx="5"/>
          </p:nvPr>
        </p:nvSpPr>
        <p:spPr/>
        <p:txBody>
          <a:bodyPr/>
          <a:lstStyle/>
          <a:p>
            <a:fld id="{565B9636-D435-4C65-BBB8-5735E39444CD}" type="slidenum">
              <a:rPr lang="en-CA" smtClean="0"/>
              <a:t>14</a:t>
            </a:fld>
            <a:endParaRPr lang="en-CA"/>
          </a:p>
        </p:txBody>
      </p:sp>
    </p:spTree>
    <p:extLst>
      <p:ext uri="{BB962C8B-B14F-4D97-AF65-F5344CB8AC3E}">
        <p14:creationId xmlns:p14="http://schemas.microsoft.com/office/powerpoint/2010/main" val="38490955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C1EEB-4DFD-AA0A-8568-4259C84868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5FEDE3-D350-B4ED-38B5-8BB5982963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29E2FC-EC85-34A0-4B50-05F471FE8FD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Joseph</a:t>
            </a:r>
          </a:p>
          <a:p>
            <a:endParaRPr lang="en-CA" dirty="0"/>
          </a:p>
        </p:txBody>
      </p:sp>
      <p:sp>
        <p:nvSpPr>
          <p:cNvPr id="4" name="Slide Number Placeholder 3">
            <a:extLst>
              <a:ext uri="{FF2B5EF4-FFF2-40B4-BE49-F238E27FC236}">
                <a16:creationId xmlns:a16="http://schemas.microsoft.com/office/drawing/2014/main" id="{074209B8-81A4-A40D-E01B-030CC2345373}"/>
              </a:ext>
            </a:extLst>
          </p:cNvPr>
          <p:cNvSpPr>
            <a:spLocks noGrp="1"/>
          </p:cNvSpPr>
          <p:nvPr>
            <p:ph type="sldNum" sz="quarter" idx="5"/>
          </p:nvPr>
        </p:nvSpPr>
        <p:spPr/>
        <p:txBody>
          <a:bodyPr/>
          <a:lstStyle/>
          <a:p>
            <a:fld id="{565B9636-D435-4C65-BBB8-5735E39444CD}" type="slidenum">
              <a:rPr lang="en-CA" smtClean="0"/>
              <a:t>15</a:t>
            </a:fld>
            <a:endParaRPr lang="en-CA"/>
          </a:p>
        </p:txBody>
      </p:sp>
    </p:spTree>
    <p:extLst>
      <p:ext uri="{BB962C8B-B14F-4D97-AF65-F5344CB8AC3E}">
        <p14:creationId xmlns:p14="http://schemas.microsoft.com/office/powerpoint/2010/main" val="28807887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Frank</a:t>
            </a:r>
          </a:p>
          <a:p>
            <a:endParaRPr lang="en-CA" dirty="0"/>
          </a:p>
          <a:p>
            <a:r>
              <a:rPr lang="en-US" altLang="zh-CN" sz="1200" b="0" kern="1200" dirty="0">
                <a:solidFill>
                  <a:schemeClr val="tx1"/>
                </a:solidFill>
                <a:effectLst/>
                <a:latin typeface="+mn-lt"/>
                <a:ea typeface="+mn-ea"/>
                <a:cs typeface="+mn-cs"/>
              </a:rPr>
              <a:t>For outlier detection, we built two complementary models on a dataset of 10,000 samples with 22 features. We designed our test parameters carefully and trained both models on standardized features.</a:t>
            </a:r>
          </a:p>
          <a:p>
            <a:br>
              <a:rPr lang="en-US" altLang="zh-CN" sz="1200" b="0" kern="1200" dirty="0">
                <a:solidFill>
                  <a:schemeClr val="tx1"/>
                </a:solidFill>
                <a:effectLst/>
                <a:latin typeface="+mn-lt"/>
                <a:ea typeface="+mn-ea"/>
                <a:cs typeface="+mn-cs"/>
              </a:rPr>
            </a:br>
            <a:endParaRPr lang="en-US" altLang="zh-CN" sz="1200" b="0" kern="1200" dirty="0">
              <a:solidFill>
                <a:schemeClr val="tx1"/>
              </a:solidFill>
              <a:effectLst/>
              <a:latin typeface="+mn-lt"/>
              <a:ea typeface="+mn-ea"/>
              <a:cs typeface="+mn-cs"/>
            </a:endParaRPr>
          </a:p>
          <a:p>
            <a:r>
              <a:rPr lang="en-US" altLang="zh-CN" sz="1200" b="0" kern="1200" dirty="0">
                <a:solidFill>
                  <a:schemeClr val="tx1"/>
                </a:solidFill>
                <a:effectLst/>
                <a:latin typeface="+mn-lt"/>
                <a:ea typeface="+mn-ea"/>
                <a:cs typeface="+mn-cs"/>
              </a:rPr>
              <a:t>First, we constructed the LOF model. We set </a:t>
            </a:r>
            <a:r>
              <a:rPr lang="en-US" altLang="zh-CN" sz="1200" b="0" kern="1200" dirty="0" err="1">
                <a:solidFill>
                  <a:schemeClr val="tx1"/>
                </a:solidFill>
                <a:effectLst/>
                <a:latin typeface="+mn-lt"/>
                <a:ea typeface="+mn-ea"/>
                <a:cs typeface="+mn-cs"/>
              </a:rPr>
              <a:t>n_neighbors</a:t>
            </a:r>
            <a:r>
              <a:rPr lang="en-US" altLang="zh-CN" sz="1200" b="0" kern="1200" dirty="0">
                <a:solidFill>
                  <a:schemeClr val="tx1"/>
                </a:solidFill>
                <a:effectLst/>
                <a:latin typeface="+mn-lt"/>
                <a:ea typeface="+mn-ea"/>
                <a:cs typeface="+mn-cs"/>
              </a:rPr>
              <a:t> to 20 to calculate local density and contamination to 0.01, expecting 1% outliers. The model was trained on scaled features and outputs outlier labels and LOF scores.</a:t>
            </a:r>
          </a:p>
          <a:p>
            <a:br>
              <a:rPr lang="en-US" altLang="zh-CN" sz="1200" b="0" kern="1200" dirty="0">
                <a:solidFill>
                  <a:schemeClr val="tx1"/>
                </a:solidFill>
                <a:effectLst/>
                <a:latin typeface="+mn-lt"/>
                <a:ea typeface="+mn-ea"/>
                <a:cs typeface="+mn-cs"/>
              </a:rPr>
            </a:br>
            <a:endParaRPr lang="en-US" altLang="zh-CN" sz="1200" b="0" kern="1200" dirty="0">
              <a:solidFill>
                <a:schemeClr val="tx1"/>
              </a:solidFill>
              <a:effectLst/>
              <a:latin typeface="+mn-lt"/>
              <a:ea typeface="+mn-ea"/>
              <a:cs typeface="+mn-cs"/>
            </a:endParaRPr>
          </a:p>
          <a:p>
            <a:r>
              <a:rPr lang="en-US" altLang="zh-CN" sz="1200" b="0" kern="1200" dirty="0">
                <a:solidFill>
                  <a:schemeClr val="tx1"/>
                </a:solidFill>
                <a:effectLst/>
                <a:latin typeface="+mn-lt"/>
                <a:ea typeface="+mn-ea"/>
                <a:cs typeface="+mn-cs"/>
              </a:rPr>
              <a:t>Second, we built a Distance-based model using 20 nearest neighbors. We calculated average distances and set the threshold at the 99th percentile, identifying the top 1% as outliers. This matches the LOF contamination rate for fair comparison.</a:t>
            </a:r>
          </a:p>
          <a:p>
            <a:br>
              <a:rPr lang="en-US" altLang="zh-CN" sz="1200" b="0" kern="1200" dirty="0">
                <a:solidFill>
                  <a:schemeClr val="tx1"/>
                </a:solidFill>
                <a:effectLst/>
                <a:latin typeface="+mn-lt"/>
                <a:ea typeface="+mn-ea"/>
                <a:cs typeface="+mn-cs"/>
              </a:rPr>
            </a:br>
            <a:endParaRPr lang="en-US" altLang="zh-CN" sz="1200" b="0" kern="1200" dirty="0">
              <a:solidFill>
                <a:schemeClr val="tx1"/>
              </a:solidFill>
              <a:effectLst/>
              <a:latin typeface="+mn-lt"/>
              <a:ea typeface="+mn-ea"/>
              <a:cs typeface="+mn-cs"/>
            </a:endParaRPr>
          </a:p>
          <a:p>
            <a:r>
              <a:rPr lang="en-US" altLang="zh-CN" sz="1200" b="0" kern="1200" dirty="0">
                <a:solidFill>
                  <a:schemeClr val="tx1"/>
                </a:solidFill>
                <a:effectLst/>
                <a:latin typeface="+mn-lt"/>
                <a:ea typeface="+mn-ea"/>
                <a:cs typeface="+mn-cs"/>
              </a:rPr>
              <a:t>Both models were trained on standardized features with mean zero and standard deviation one. The results are stored in our </a:t>
            </a:r>
            <a:r>
              <a:rPr lang="en-US" altLang="zh-CN" sz="1200" b="0" kern="1200" dirty="0" err="1">
                <a:solidFill>
                  <a:schemeClr val="tx1"/>
                </a:solidFill>
                <a:effectLst/>
                <a:latin typeface="+mn-lt"/>
                <a:ea typeface="+mn-ea"/>
                <a:cs typeface="+mn-cs"/>
              </a:rPr>
              <a:t>dataframe</a:t>
            </a:r>
            <a:r>
              <a:rPr lang="en-US" altLang="zh-CN" sz="1200" b="0" kern="1200" dirty="0">
                <a:solidFill>
                  <a:schemeClr val="tx1"/>
                </a:solidFill>
                <a:effectLst/>
                <a:latin typeface="+mn-lt"/>
                <a:ea typeface="+mn-ea"/>
                <a:cs typeface="+mn-cs"/>
              </a:rPr>
              <a:t> with separate score and outlier columns for each method. We combine both methods by finding outliers detected by both, ensuring more reliable results with fewer false positives. Thank you!</a:t>
            </a:r>
          </a:p>
          <a:p>
            <a:endParaRPr lang="en-CA" dirty="0"/>
          </a:p>
        </p:txBody>
      </p:sp>
      <p:sp>
        <p:nvSpPr>
          <p:cNvPr id="4" name="Slide Number Placeholder 3"/>
          <p:cNvSpPr>
            <a:spLocks noGrp="1"/>
          </p:cNvSpPr>
          <p:nvPr>
            <p:ph type="sldNum" sz="quarter" idx="5"/>
          </p:nvPr>
        </p:nvSpPr>
        <p:spPr/>
        <p:txBody>
          <a:bodyPr/>
          <a:lstStyle/>
          <a:p>
            <a:fld id="{565B9636-D435-4C65-BBB8-5735E39444CD}" type="slidenum">
              <a:rPr lang="en-CA" smtClean="0"/>
              <a:t>16</a:t>
            </a:fld>
            <a:endParaRPr lang="en-CA"/>
          </a:p>
        </p:txBody>
      </p:sp>
    </p:spTree>
    <p:extLst>
      <p:ext uri="{BB962C8B-B14F-4D97-AF65-F5344CB8AC3E}">
        <p14:creationId xmlns:p14="http://schemas.microsoft.com/office/powerpoint/2010/main" val="22159197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C901C-6331-9524-E84F-5017C192F6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B7C08E-8878-F4E1-8A69-254399B070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467C8B-D4CA-2ED2-E9C0-97A29AC0B7A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Frank</a:t>
            </a:r>
          </a:p>
          <a:p>
            <a:endParaRPr lang="en-CA" dirty="0"/>
          </a:p>
          <a:p>
            <a:r>
              <a:rPr lang="en-US" altLang="zh-CN" sz="1200" b="0" kern="1200" dirty="0">
                <a:solidFill>
                  <a:schemeClr val="tx1"/>
                </a:solidFill>
                <a:effectLst/>
                <a:latin typeface="+mn-lt"/>
                <a:ea typeface="+mn-ea"/>
                <a:cs typeface="+mn-cs"/>
              </a:rPr>
              <a:t>Let me share our outlier detection model assessment results. Both methods performed as expected on our dataset of 10,000 records with 22 features.</a:t>
            </a:r>
          </a:p>
          <a:p>
            <a:br>
              <a:rPr lang="en-US" altLang="zh-CN" sz="1200" b="0" kern="1200" dirty="0">
                <a:solidFill>
                  <a:schemeClr val="tx1"/>
                </a:solidFill>
                <a:effectLst/>
                <a:latin typeface="+mn-lt"/>
                <a:ea typeface="+mn-ea"/>
                <a:cs typeface="+mn-cs"/>
              </a:rPr>
            </a:br>
            <a:endParaRPr lang="en-US" altLang="zh-CN" sz="1200" b="0" kern="1200" dirty="0">
              <a:solidFill>
                <a:schemeClr val="tx1"/>
              </a:solidFill>
              <a:effectLst/>
              <a:latin typeface="+mn-lt"/>
              <a:ea typeface="+mn-ea"/>
              <a:cs typeface="+mn-cs"/>
            </a:endParaRPr>
          </a:p>
          <a:p>
            <a:r>
              <a:rPr lang="en-US" altLang="zh-CN" sz="1200" b="0" kern="1200" dirty="0">
                <a:solidFill>
                  <a:schemeClr val="tx1"/>
                </a:solidFill>
                <a:effectLst/>
                <a:latin typeface="+mn-lt"/>
                <a:ea typeface="+mn-ea"/>
                <a:cs typeface="+mn-cs"/>
              </a:rPr>
              <a:t>The LOF method detected 100 outliers, which is 1% of the dataset. These are local density-based outliers. The Distance-based method also detected 100 outliers, representing 1% of the dataset. These are global distance-based outliers.</a:t>
            </a:r>
          </a:p>
          <a:p>
            <a:br>
              <a:rPr lang="en-US" altLang="zh-CN" sz="1200" b="0" kern="1200" dirty="0">
                <a:solidFill>
                  <a:schemeClr val="tx1"/>
                </a:solidFill>
                <a:effectLst/>
                <a:latin typeface="+mn-lt"/>
                <a:ea typeface="+mn-ea"/>
                <a:cs typeface="+mn-cs"/>
              </a:rPr>
            </a:br>
            <a:endParaRPr lang="en-US" altLang="zh-CN" sz="1200" b="0" kern="1200" dirty="0">
              <a:solidFill>
                <a:schemeClr val="tx1"/>
              </a:solidFill>
              <a:effectLst/>
              <a:latin typeface="+mn-lt"/>
              <a:ea typeface="+mn-ea"/>
              <a:cs typeface="+mn-cs"/>
            </a:endParaRPr>
          </a:p>
          <a:p>
            <a:r>
              <a:rPr lang="en-US" altLang="zh-CN" sz="1200" b="0" kern="1200" dirty="0">
                <a:solidFill>
                  <a:schemeClr val="tx1"/>
                </a:solidFill>
                <a:effectLst/>
                <a:latin typeface="+mn-lt"/>
                <a:ea typeface="+mn-ea"/>
                <a:cs typeface="+mn-cs"/>
              </a:rPr>
              <a:t>Most importantly, we found 55 high-confidence outliers that were detected by both methods. This represents 0.55% of the dataset. The agreement rate is 55%, meaning 55% of LOF outliers were also detected by the distance method, and vice versa.</a:t>
            </a:r>
          </a:p>
          <a:p>
            <a:br>
              <a:rPr lang="en-US" altLang="zh-CN" sz="1200" b="0" kern="1200" dirty="0">
                <a:solidFill>
                  <a:schemeClr val="tx1"/>
                </a:solidFill>
                <a:effectLst/>
                <a:latin typeface="+mn-lt"/>
                <a:ea typeface="+mn-ea"/>
                <a:cs typeface="+mn-cs"/>
              </a:rPr>
            </a:br>
            <a:endParaRPr lang="en-US" altLang="zh-CN" sz="1200" b="0" kern="1200" dirty="0">
              <a:solidFill>
                <a:schemeClr val="tx1"/>
              </a:solidFill>
              <a:effectLst/>
              <a:latin typeface="+mn-lt"/>
              <a:ea typeface="+mn-ea"/>
              <a:cs typeface="+mn-cs"/>
            </a:endParaRPr>
          </a:p>
          <a:p>
            <a:r>
              <a:rPr lang="en-US" altLang="zh-CN" sz="1200" b="0" kern="1200" dirty="0">
                <a:solidFill>
                  <a:schemeClr val="tx1"/>
                </a:solidFill>
                <a:effectLst/>
                <a:latin typeface="+mn-lt"/>
                <a:ea typeface="+mn-ea"/>
                <a:cs typeface="+mn-cs"/>
              </a:rPr>
              <a:t>Additionally, we found 45 outliers detected only by LOF and 45 detected only by the distance method. The 55 common outliers have the highest confidence and are available for detailed analysis. These results demonstrate that our dual-method approach successfully identifies reliable anomalous violations. Thank you!</a:t>
            </a:r>
          </a:p>
          <a:p>
            <a:endParaRPr lang="en-CA" dirty="0"/>
          </a:p>
        </p:txBody>
      </p:sp>
      <p:sp>
        <p:nvSpPr>
          <p:cNvPr id="4" name="Slide Number Placeholder 3">
            <a:extLst>
              <a:ext uri="{FF2B5EF4-FFF2-40B4-BE49-F238E27FC236}">
                <a16:creationId xmlns:a16="http://schemas.microsoft.com/office/drawing/2014/main" id="{573E0341-C19A-5426-6078-0FABB8D6FF2B}"/>
              </a:ext>
            </a:extLst>
          </p:cNvPr>
          <p:cNvSpPr>
            <a:spLocks noGrp="1"/>
          </p:cNvSpPr>
          <p:nvPr>
            <p:ph type="sldNum" sz="quarter" idx="5"/>
          </p:nvPr>
        </p:nvSpPr>
        <p:spPr/>
        <p:txBody>
          <a:bodyPr/>
          <a:lstStyle/>
          <a:p>
            <a:fld id="{565B9636-D435-4C65-BBB8-5735E39444CD}" type="slidenum">
              <a:rPr lang="en-CA" smtClean="0"/>
              <a:t>17</a:t>
            </a:fld>
            <a:endParaRPr lang="en-CA"/>
          </a:p>
        </p:txBody>
      </p:sp>
    </p:spTree>
    <p:extLst>
      <p:ext uri="{BB962C8B-B14F-4D97-AF65-F5344CB8AC3E}">
        <p14:creationId xmlns:p14="http://schemas.microsoft.com/office/powerpoint/2010/main" val="42285129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6AE28-C309-9F5D-BC8D-8C659BC0A3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99A029-67F0-F26E-318C-BD25E0C512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7A78F8-3513-C5E9-296D-7439CC8387B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Frank</a:t>
            </a:r>
          </a:p>
          <a:p>
            <a:endParaRPr lang="en-CA" dirty="0"/>
          </a:p>
          <a:p>
            <a:r>
              <a:rPr lang="en-US" altLang="zh-CN" sz="1200" b="0" kern="1200" dirty="0">
                <a:solidFill>
                  <a:schemeClr val="tx1"/>
                </a:solidFill>
                <a:effectLst/>
                <a:latin typeface="+mn-lt"/>
                <a:ea typeface="+mn-ea"/>
                <a:cs typeface="+mn-cs"/>
              </a:rPr>
              <a:t>Let me highlight the key findings from our outlier detection analysis. These discoveries provide critical insights for traffic safety management.</a:t>
            </a:r>
          </a:p>
          <a:p>
            <a:br>
              <a:rPr lang="en-US" altLang="zh-CN" sz="1200" b="0" kern="1200" dirty="0">
                <a:solidFill>
                  <a:schemeClr val="tx1"/>
                </a:solidFill>
                <a:effectLst/>
                <a:latin typeface="+mn-lt"/>
                <a:ea typeface="+mn-ea"/>
                <a:cs typeface="+mn-cs"/>
              </a:rPr>
            </a:br>
            <a:endParaRPr lang="en-US" altLang="zh-CN" sz="1200" b="0" kern="1200" dirty="0">
              <a:solidFill>
                <a:schemeClr val="tx1"/>
              </a:solidFill>
              <a:effectLst/>
              <a:latin typeface="+mn-lt"/>
              <a:ea typeface="+mn-ea"/>
              <a:cs typeface="+mn-cs"/>
            </a:endParaRPr>
          </a:p>
          <a:p>
            <a:r>
              <a:rPr lang="en-US" altLang="zh-CN" sz="1200" b="0" kern="1200" dirty="0">
                <a:solidFill>
                  <a:schemeClr val="tx1"/>
                </a:solidFill>
                <a:effectLst/>
                <a:latin typeface="+mn-lt"/>
                <a:ea typeface="+mn-ea"/>
                <a:cs typeface="+mn-cs"/>
              </a:rPr>
              <a:t>First, we successfully identified 55 high-confidence outliers using dual-method detection. These outliers represent only 0.55% of the dataset but require special attention due to their high-risk characteristics.</a:t>
            </a:r>
          </a:p>
          <a:p>
            <a:br>
              <a:rPr lang="en-US" altLang="zh-CN" sz="1200" b="0" kern="1200" dirty="0">
                <a:solidFill>
                  <a:schemeClr val="tx1"/>
                </a:solidFill>
                <a:effectLst/>
                <a:latin typeface="+mn-lt"/>
                <a:ea typeface="+mn-ea"/>
                <a:cs typeface="+mn-cs"/>
              </a:rPr>
            </a:br>
            <a:endParaRPr lang="en-US" altLang="zh-CN" sz="1200" b="0" kern="1200" dirty="0">
              <a:solidFill>
                <a:schemeClr val="tx1"/>
              </a:solidFill>
              <a:effectLst/>
              <a:latin typeface="+mn-lt"/>
              <a:ea typeface="+mn-ea"/>
              <a:cs typeface="+mn-cs"/>
            </a:endParaRPr>
          </a:p>
          <a:p>
            <a:r>
              <a:rPr lang="en-US" altLang="zh-CN" sz="1200" b="0" kern="1200" dirty="0">
                <a:solidFill>
                  <a:schemeClr val="tx1"/>
                </a:solidFill>
                <a:effectLst/>
                <a:latin typeface="+mn-lt"/>
                <a:ea typeface="+mn-ea"/>
                <a:cs typeface="+mn-cs"/>
              </a:rPr>
              <a:t>Second, and most importantly, our analysis reveals a dramatic difference in accident rates. Outliers have a 38.2% accident rate, compared to only 1.7% for normal cases. This is a difference of 36.5 percentage points, meaning outliers are approximately 22.5 times more likely to be involved in accidents.</a:t>
            </a:r>
          </a:p>
          <a:p>
            <a:br>
              <a:rPr lang="en-US" altLang="zh-CN" sz="1200" b="0" kern="1200" dirty="0">
                <a:solidFill>
                  <a:schemeClr val="tx1"/>
                </a:solidFill>
                <a:effectLst/>
                <a:latin typeface="+mn-lt"/>
                <a:ea typeface="+mn-ea"/>
                <a:cs typeface="+mn-cs"/>
              </a:rPr>
            </a:br>
            <a:endParaRPr lang="en-US" altLang="zh-CN" sz="1200" b="0" kern="1200" dirty="0">
              <a:solidFill>
                <a:schemeClr val="tx1"/>
              </a:solidFill>
              <a:effectLst/>
              <a:latin typeface="+mn-lt"/>
              <a:ea typeface="+mn-ea"/>
              <a:cs typeface="+mn-cs"/>
            </a:endParaRPr>
          </a:p>
          <a:p>
            <a:r>
              <a:rPr lang="en-US" altLang="zh-CN" sz="1200" b="0" kern="1200" dirty="0">
                <a:solidFill>
                  <a:schemeClr val="tx1"/>
                </a:solidFill>
                <a:effectLst/>
                <a:latin typeface="+mn-lt"/>
                <a:ea typeface="+mn-ea"/>
                <a:cs typeface="+mn-cs"/>
              </a:rPr>
              <a:t>Third, we found that outliers show 1.8% alcohol involvement, while normal cases show 0.0%. This difference of 1.8 percentage points suggests that alcohol-related violations are more likely to be flagged as outliers.</a:t>
            </a:r>
          </a:p>
          <a:p>
            <a:br>
              <a:rPr lang="en-US" altLang="zh-CN" sz="1200" b="0" kern="1200" dirty="0">
                <a:solidFill>
                  <a:schemeClr val="tx1"/>
                </a:solidFill>
                <a:effectLst/>
                <a:latin typeface="+mn-lt"/>
                <a:ea typeface="+mn-ea"/>
                <a:cs typeface="+mn-cs"/>
              </a:rPr>
            </a:br>
            <a:endParaRPr lang="en-US" altLang="zh-CN" sz="1200" b="0" kern="1200" dirty="0">
              <a:solidFill>
                <a:schemeClr val="tx1"/>
              </a:solidFill>
              <a:effectLst/>
              <a:latin typeface="+mn-lt"/>
              <a:ea typeface="+mn-ea"/>
              <a:cs typeface="+mn-cs"/>
            </a:endParaRPr>
          </a:p>
          <a:p>
            <a:r>
              <a:rPr lang="en-US" altLang="zh-CN" sz="1200" b="0" kern="1200" dirty="0">
                <a:solidFill>
                  <a:schemeClr val="tx1"/>
                </a:solidFill>
                <a:effectLst/>
                <a:latin typeface="+mn-lt"/>
                <a:ea typeface="+mn-ea"/>
                <a:cs typeface="+mn-cs"/>
              </a:rPr>
              <a:t>Fourth, our dual-method approach achieved 55% agreement between LOF and distance-based methods, with both methods detecting 100 outliers each (1.00% of the dataset), demonstrating high confidence in our outlier detection results.</a:t>
            </a:r>
          </a:p>
          <a:p>
            <a:br>
              <a:rPr lang="en-US" altLang="zh-CN" sz="1200" b="0" kern="1200" dirty="0">
                <a:solidFill>
                  <a:schemeClr val="tx1"/>
                </a:solidFill>
                <a:effectLst/>
                <a:latin typeface="+mn-lt"/>
                <a:ea typeface="+mn-ea"/>
                <a:cs typeface="+mn-cs"/>
              </a:rPr>
            </a:br>
            <a:endParaRPr lang="en-US" altLang="zh-CN" sz="1200" b="0" kern="1200" dirty="0">
              <a:solidFill>
                <a:schemeClr val="tx1"/>
              </a:solidFill>
              <a:effectLst/>
              <a:latin typeface="+mn-lt"/>
              <a:ea typeface="+mn-ea"/>
              <a:cs typeface="+mn-cs"/>
            </a:endParaRPr>
          </a:p>
          <a:p>
            <a:r>
              <a:rPr lang="en-US" altLang="zh-CN" sz="1200" b="0" kern="1200" dirty="0">
                <a:solidFill>
                  <a:schemeClr val="tx1"/>
                </a:solidFill>
                <a:effectLst/>
                <a:latin typeface="+mn-lt"/>
                <a:ea typeface="+mn-ea"/>
                <a:cs typeface="+mn-cs"/>
              </a:rPr>
              <a:t>These key findings demonstrate that our outlier detection successfully identifies high-risk violations that warrant immediate investigation and targeted enforcement strategies. </a:t>
            </a:r>
            <a:r>
              <a:rPr lang="en-US" altLang="zh-CN" sz="1200" b="0" kern="1200">
                <a:solidFill>
                  <a:schemeClr val="tx1"/>
                </a:solidFill>
                <a:effectLst/>
                <a:latin typeface="+mn-lt"/>
                <a:ea typeface="+mn-ea"/>
                <a:cs typeface="+mn-cs"/>
              </a:rPr>
              <a:t>Thank you!</a:t>
            </a:r>
          </a:p>
          <a:p>
            <a:endParaRPr lang="en-CA" dirty="0"/>
          </a:p>
        </p:txBody>
      </p:sp>
      <p:sp>
        <p:nvSpPr>
          <p:cNvPr id="4" name="Slide Number Placeholder 3">
            <a:extLst>
              <a:ext uri="{FF2B5EF4-FFF2-40B4-BE49-F238E27FC236}">
                <a16:creationId xmlns:a16="http://schemas.microsoft.com/office/drawing/2014/main" id="{A4EF21B0-95F6-E411-37B1-53BF823B7DCF}"/>
              </a:ext>
            </a:extLst>
          </p:cNvPr>
          <p:cNvSpPr>
            <a:spLocks noGrp="1"/>
          </p:cNvSpPr>
          <p:nvPr>
            <p:ph type="sldNum" sz="quarter" idx="5"/>
          </p:nvPr>
        </p:nvSpPr>
        <p:spPr/>
        <p:txBody>
          <a:bodyPr/>
          <a:lstStyle/>
          <a:p>
            <a:fld id="{565B9636-D435-4C65-BBB8-5735E39444CD}" type="slidenum">
              <a:rPr lang="en-CA" smtClean="0"/>
              <a:t>18</a:t>
            </a:fld>
            <a:endParaRPr lang="en-CA"/>
          </a:p>
        </p:txBody>
      </p:sp>
    </p:spTree>
    <p:extLst>
      <p:ext uri="{BB962C8B-B14F-4D97-AF65-F5344CB8AC3E}">
        <p14:creationId xmlns:p14="http://schemas.microsoft.com/office/powerpoint/2010/main" val="28902446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Frank</a:t>
            </a:r>
          </a:p>
          <a:p>
            <a:endParaRPr lang="en-CA" dirty="0"/>
          </a:p>
          <a:p>
            <a:r>
              <a:rPr lang="en-US" altLang="zh-CN" sz="1200" b="0" kern="1200" dirty="0">
                <a:solidFill>
                  <a:schemeClr val="tx1"/>
                </a:solidFill>
                <a:effectLst/>
                <a:latin typeface="+mn-lt"/>
                <a:ea typeface="+mn-ea"/>
                <a:cs typeface="+mn-cs"/>
              </a:rPr>
              <a:t>Let me summarize the overall performance of our three machine learning models.</a:t>
            </a:r>
          </a:p>
          <a:p>
            <a:br>
              <a:rPr lang="en-US" altLang="zh-CN" sz="1200" b="0" kern="1200" dirty="0">
                <a:solidFill>
                  <a:schemeClr val="tx1"/>
                </a:solidFill>
                <a:effectLst/>
                <a:latin typeface="+mn-lt"/>
                <a:ea typeface="+mn-ea"/>
                <a:cs typeface="+mn-cs"/>
              </a:rPr>
            </a:br>
            <a:endParaRPr lang="en-US" altLang="zh-CN" sz="1200" b="0" kern="1200" dirty="0">
              <a:solidFill>
                <a:schemeClr val="tx1"/>
              </a:solidFill>
              <a:effectLst/>
              <a:latin typeface="+mn-lt"/>
              <a:ea typeface="+mn-ea"/>
              <a:cs typeface="+mn-cs"/>
            </a:endParaRPr>
          </a:p>
          <a:p>
            <a:r>
              <a:rPr lang="en-US" altLang="zh-CN" sz="1200" b="0" kern="1200" dirty="0">
                <a:solidFill>
                  <a:schemeClr val="tx1"/>
                </a:solidFill>
                <a:effectLst/>
                <a:latin typeface="+mn-lt"/>
                <a:ea typeface="+mn-ea"/>
                <a:cs typeface="+mn-cs"/>
              </a:rPr>
              <a:t>For classification, our target was 70% accuracy, and we achieved 57.59%. While this is below our target, it's still moderate performance and better than random guessing. The model provides interpretable insights despite the lower accuracy.</a:t>
            </a:r>
          </a:p>
          <a:p>
            <a:br>
              <a:rPr lang="en-US" altLang="zh-CN" sz="1200" b="0" kern="1200" dirty="0">
                <a:solidFill>
                  <a:schemeClr val="tx1"/>
                </a:solidFill>
                <a:effectLst/>
                <a:latin typeface="+mn-lt"/>
                <a:ea typeface="+mn-ea"/>
                <a:cs typeface="+mn-cs"/>
              </a:rPr>
            </a:br>
            <a:endParaRPr lang="en-US" altLang="zh-CN" sz="1200" b="0" kern="1200" dirty="0">
              <a:solidFill>
                <a:schemeClr val="tx1"/>
              </a:solidFill>
              <a:effectLst/>
              <a:latin typeface="+mn-lt"/>
              <a:ea typeface="+mn-ea"/>
              <a:cs typeface="+mn-cs"/>
            </a:endParaRPr>
          </a:p>
          <a:p>
            <a:r>
              <a:rPr lang="en-US" altLang="zh-CN" sz="1200" b="0" kern="1200" dirty="0">
                <a:solidFill>
                  <a:schemeClr val="tx1"/>
                </a:solidFill>
                <a:effectLst/>
                <a:latin typeface="+mn-lt"/>
                <a:ea typeface="+mn-ea"/>
                <a:cs typeface="+mn-cs"/>
              </a:rPr>
              <a:t>For clustering, we achieved a silhouette score of 0.212 and a Davies-Bouldin score of 1.547. These metrics indicate moderate clustering quality, successfully identifying distinct violation patterns.</a:t>
            </a:r>
          </a:p>
          <a:p>
            <a:br>
              <a:rPr lang="en-US" altLang="zh-CN" sz="1200" b="0" kern="1200" dirty="0">
                <a:solidFill>
                  <a:schemeClr val="tx1"/>
                </a:solidFill>
                <a:effectLst/>
                <a:latin typeface="+mn-lt"/>
                <a:ea typeface="+mn-ea"/>
                <a:cs typeface="+mn-cs"/>
              </a:rPr>
            </a:br>
            <a:endParaRPr lang="en-US" altLang="zh-CN" sz="1200" b="0" kern="1200" dirty="0">
              <a:solidFill>
                <a:schemeClr val="tx1"/>
              </a:solidFill>
              <a:effectLst/>
              <a:latin typeface="+mn-lt"/>
              <a:ea typeface="+mn-ea"/>
              <a:cs typeface="+mn-cs"/>
            </a:endParaRPr>
          </a:p>
          <a:p>
            <a:r>
              <a:rPr lang="en-US" altLang="zh-CN" sz="1200" b="0" kern="1200" dirty="0">
                <a:solidFill>
                  <a:schemeClr val="tx1"/>
                </a:solidFill>
                <a:effectLst/>
                <a:latin typeface="+mn-lt"/>
                <a:ea typeface="+mn-ea"/>
                <a:cs typeface="+mn-cs"/>
              </a:rPr>
              <a:t>For outlier detection, we achieved 54% agreement between our two methods. This high confidence level demonstrates that both methods consistently identify the same anomalous violations.</a:t>
            </a:r>
          </a:p>
          <a:p>
            <a:br>
              <a:rPr lang="en-US" altLang="zh-CN" sz="1200" b="0" kern="1200" dirty="0">
                <a:solidFill>
                  <a:schemeClr val="tx1"/>
                </a:solidFill>
                <a:effectLst/>
                <a:latin typeface="+mn-lt"/>
                <a:ea typeface="+mn-ea"/>
                <a:cs typeface="+mn-cs"/>
              </a:rPr>
            </a:br>
            <a:endParaRPr lang="en-US" altLang="zh-CN" sz="1200" b="0" kern="1200" dirty="0">
              <a:solidFill>
                <a:schemeClr val="tx1"/>
              </a:solidFill>
              <a:effectLst/>
              <a:latin typeface="+mn-lt"/>
              <a:ea typeface="+mn-ea"/>
              <a:cs typeface="+mn-cs"/>
            </a:endParaRPr>
          </a:p>
          <a:p>
            <a:r>
              <a:rPr lang="en-US" altLang="zh-CN" sz="1200" b="0" kern="1200" dirty="0">
                <a:solidFill>
                  <a:schemeClr val="tx1"/>
                </a:solidFill>
                <a:effectLst/>
                <a:latin typeface="+mn-lt"/>
                <a:ea typeface="+mn-ea"/>
                <a:cs typeface="+mn-cs"/>
              </a:rPr>
              <a:t>Most importantly, our feature importance analysis reveals the top three contributing factors. First, Contributed To Accident accounts for 37% of importance. Second, Hour contributes 17.4%. Third, </a:t>
            </a:r>
            <a:r>
              <a:rPr lang="en-US" altLang="zh-CN" sz="1200" b="0" kern="1200" dirty="0" err="1">
                <a:solidFill>
                  <a:schemeClr val="tx1"/>
                </a:solidFill>
                <a:effectLst/>
                <a:latin typeface="+mn-lt"/>
                <a:ea typeface="+mn-ea"/>
                <a:cs typeface="+mn-cs"/>
              </a:rPr>
              <a:t>VehicleAge</a:t>
            </a:r>
            <a:r>
              <a:rPr lang="en-US" altLang="zh-CN" sz="1200" b="0" kern="1200" dirty="0">
                <a:solidFill>
                  <a:schemeClr val="tx1"/>
                </a:solidFill>
                <a:effectLst/>
                <a:latin typeface="+mn-lt"/>
                <a:ea typeface="+mn-ea"/>
                <a:cs typeface="+mn-cs"/>
              </a:rPr>
              <a:t> contributes 16.9%. Together, these three features account for over 70% of the classification power, providing actionable insights for traffic enforcement. Thank you!</a:t>
            </a:r>
          </a:p>
          <a:p>
            <a:endParaRPr lang="en-CA" dirty="0"/>
          </a:p>
        </p:txBody>
      </p:sp>
      <p:sp>
        <p:nvSpPr>
          <p:cNvPr id="4" name="Slide Number Placeholder 3"/>
          <p:cNvSpPr>
            <a:spLocks noGrp="1"/>
          </p:cNvSpPr>
          <p:nvPr>
            <p:ph type="sldNum" sz="quarter" idx="5"/>
          </p:nvPr>
        </p:nvSpPr>
        <p:spPr/>
        <p:txBody>
          <a:bodyPr/>
          <a:lstStyle/>
          <a:p>
            <a:fld id="{565B9636-D435-4C65-BBB8-5735E39444CD}" type="slidenum">
              <a:rPr lang="en-CA" smtClean="0"/>
              <a:t>19</a:t>
            </a:fld>
            <a:endParaRPr lang="en-CA"/>
          </a:p>
        </p:txBody>
      </p:sp>
    </p:spTree>
    <p:extLst>
      <p:ext uri="{BB962C8B-B14F-4D97-AF65-F5344CB8AC3E}">
        <p14:creationId xmlns:p14="http://schemas.microsoft.com/office/powerpoint/2010/main" val="8170090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Joseph</a:t>
            </a:r>
          </a:p>
        </p:txBody>
      </p:sp>
      <p:sp>
        <p:nvSpPr>
          <p:cNvPr id="4" name="Slide Number Placeholder 3"/>
          <p:cNvSpPr>
            <a:spLocks noGrp="1"/>
          </p:cNvSpPr>
          <p:nvPr>
            <p:ph type="sldNum" sz="quarter" idx="5"/>
          </p:nvPr>
        </p:nvSpPr>
        <p:spPr/>
        <p:txBody>
          <a:bodyPr/>
          <a:lstStyle/>
          <a:p>
            <a:fld id="{565B9636-D435-4C65-BBB8-5735E39444CD}" type="slidenum">
              <a:rPr lang="en-CA" smtClean="0"/>
              <a:t>20</a:t>
            </a:fld>
            <a:endParaRPr lang="en-CA"/>
          </a:p>
        </p:txBody>
      </p:sp>
    </p:spTree>
    <p:extLst>
      <p:ext uri="{BB962C8B-B14F-4D97-AF65-F5344CB8AC3E}">
        <p14:creationId xmlns:p14="http://schemas.microsoft.com/office/powerpoint/2010/main" val="18221482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Frank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dirty="0"/>
          </a:p>
          <a:p>
            <a:r>
              <a:rPr lang="en-US" altLang="zh-CN" sz="1200" b="0" kern="1200" dirty="0">
                <a:solidFill>
                  <a:schemeClr val="tx1"/>
                </a:solidFill>
                <a:effectLst/>
                <a:latin typeface="+mn-lt"/>
                <a:ea typeface="+mn-ea"/>
                <a:cs typeface="+mn-cs"/>
              </a:rPr>
              <a:t>Let me summarize our key achievements and business value. We successfully completed all three machine learning tasks with meaningful results.</a:t>
            </a:r>
          </a:p>
          <a:p>
            <a:br>
              <a:rPr lang="en-US" altLang="zh-CN" sz="1200" b="0" kern="1200" dirty="0">
                <a:solidFill>
                  <a:schemeClr val="tx1"/>
                </a:solidFill>
                <a:effectLst/>
                <a:latin typeface="+mn-lt"/>
                <a:ea typeface="+mn-ea"/>
                <a:cs typeface="+mn-cs"/>
              </a:rPr>
            </a:br>
            <a:endParaRPr lang="en-US" altLang="zh-CN" sz="1200" b="0" kern="1200" dirty="0">
              <a:solidFill>
                <a:schemeClr val="tx1"/>
              </a:solidFill>
              <a:effectLst/>
              <a:latin typeface="+mn-lt"/>
              <a:ea typeface="+mn-ea"/>
              <a:cs typeface="+mn-cs"/>
            </a:endParaRPr>
          </a:p>
          <a:p>
            <a:r>
              <a:rPr lang="en-US" altLang="zh-CN" sz="1200" b="0" kern="1200" dirty="0">
                <a:solidFill>
                  <a:schemeClr val="tx1"/>
                </a:solidFill>
                <a:effectLst/>
                <a:latin typeface="+mn-lt"/>
                <a:ea typeface="+mn-ea"/>
                <a:cs typeface="+mn-cs"/>
              </a:rPr>
              <a:t>First, our key achievements. For classification, we identified that Contributed To Accident is the most important factor, accounting for 37% of importance. For clustering, we discovered 4 distinct violation patterns that reveal different risk profiles. For outlier detection, we found 54 high-risk anomalies that require special attention.</a:t>
            </a:r>
          </a:p>
          <a:p>
            <a:br>
              <a:rPr lang="en-US" altLang="zh-CN" sz="1200" b="0" kern="1200" dirty="0">
                <a:solidFill>
                  <a:schemeClr val="tx1"/>
                </a:solidFill>
                <a:effectLst/>
                <a:latin typeface="+mn-lt"/>
                <a:ea typeface="+mn-ea"/>
                <a:cs typeface="+mn-cs"/>
              </a:rPr>
            </a:br>
            <a:endParaRPr lang="en-US" altLang="zh-CN" sz="1200" b="0" kern="1200" dirty="0">
              <a:solidFill>
                <a:schemeClr val="tx1"/>
              </a:solidFill>
              <a:effectLst/>
              <a:latin typeface="+mn-lt"/>
              <a:ea typeface="+mn-ea"/>
              <a:cs typeface="+mn-cs"/>
            </a:endParaRPr>
          </a:p>
          <a:p>
            <a:r>
              <a:rPr lang="en-US" altLang="zh-CN" sz="1200" b="0" kern="1200" dirty="0">
                <a:solidFill>
                  <a:schemeClr val="tx1"/>
                </a:solidFill>
                <a:effectLst/>
                <a:latin typeface="+mn-lt"/>
                <a:ea typeface="+mn-ea"/>
                <a:cs typeface="+mn-cs"/>
              </a:rPr>
              <a:t>Second, the business value. Our analysis enables resource optimization for law enforcement by identifying high-risk areas and time periods. We provide evidence-based prevention strategies using data-driven insights. We also improve data quality by detecting anomalies and inconsistencies. Most importantly, we deliver actionable insights that help law enforcement make informed decisions.</a:t>
            </a:r>
          </a:p>
          <a:p>
            <a:br>
              <a:rPr lang="en-US" altLang="zh-CN" sz="1200" b="0" kern="1200" dirty="0">
                <a:solidFill>
                  <a:schemeClr val="tx1"/>
                </a:solidFill>
                <a:effectLst/>
                <a:latin typeface="+mn-lt"/>
                <a:ea typeface="+mn-ea"/>
                <a:cs typeface="+mn-cs"/>
              </a:rPr>
            </a:br>
            <a:endParaRPr lang="en-US" altLang="zh-CN" sz="1200" b="0" kern="1200" dirty="0">
              <a:solidFill>
                <a:schemeClr val="tx1"/>
              </a:solidFill>
              <a:effectLst/>
              <a:latin typeface="+mn-lt"/>
              <a:ea typeface="+mn-ea"/>
              <a:cs typeface="+mn-cs"/>
            </a:endParaRPr>
          </a:p>
          <a:p>
            <a:r>
              <a:rPr lang="en-US" altLang="zh-CN" sz="1200" b="0" kern="1200" dirty="0">
                <a:solidFill>
                  <a:schemeClr val="tx1"/>
                </a:solidFill>
                <a:effectLst/>
                <a:latin typeface="+mn-lt"/>
                <a:ea typeface="+mn-ea"/>
                <a:cs typeface="+mn-cs"/>
              </a:rPr>
              <a:t>Third, we acknowledge limitations. Our classification accuracy is below the 70% target, achieving 57.59%. For future improvements, we recommend hyperparameter tuning and ensemble methods to enhance model performance. Despite these limitations, our project successfully addresses the business question and provides valuable insights for traffic violation management. </a:t>
            </a:r>
            <a:r>
              <a:rPr lang="en-US" altLang="zh-CN" sz="1200" b="0" kern="1200">
                <a:solidFill>
                  <a:schemeClr val="tx1"/>
                </a:solidFill>
                <a:effectLst/>
                <a:latin typeface="+mn-lt"/>
                <a:ea typeface="+mn-ea"/>
                <a:cs typeface="+mn-cs"/>
              </a:rPr>
              <a:t>Thank you!</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dirty="0"/>
          </a:p>
        </p:txBody>
      </p:sp>
      <p:sp>
        <p:nvSpPr>
          <p:cNvPr id="4" name="Slide Number Placeholder 3"/>
          <p:cNvSpPr>
            <a:spLocks noGrp="1"/>
          </p:cNvSpPr>
          <p:nvPr>
            <p:ph type="sldNum" sz="quarter" idx="5"/>
          </p:nvPr>
        </p:nvSpPr>
        <p:spPr/>
        <p:txBody>
          <a:bodyPr/>
          <a:lstStyle/>
          <a:p>
            <a:fld id="{565B9636-D435-4C65-BBB8-5735E39444CD}" type="slidenum">
              <a:rPr lang="en-CA" smtClean="0"/>
              <a:t>21</a:t>
            </a:fld>
            <a:endParaRPr lang="en-CA"/>
          </a:p>
        </p:txBody>
      </p:sp>
    </p:spTree>
    <p:extLst>
      <p:ext uri="{BB962C8B-B14F-4D97-AF65-F5344CB8AC3E}">
        <p14:creationId xmlns:p14="http://schemas.microsoft.com/office/powerpoint/2010/main" val="4952457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Section Separator">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14" name="Picture 13" descr="swoosh-85.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4511984"/>
            <a:ext cx="9144000" cy="1304320"/>
          </a:xfrm>
          <a:prstGeom prst="rect">
            <a:avLst/>
          </a:prstGeom>
        </p:spPr>
      </p:pic>
      <p:sp>
        <p:nvSpPr>
          <p:cNvPr id="2" name="Title 1"/>
          <p:cNvSpPr>
            <a:spLocks noGrp="1"/>
          </p:cNvSpPr>
          <p:nvPr>
            <p:ph type="title" hasCustomPrompt="1"/>
          </p:nvPr>
        </p:nvSpPr>
        <p:spPr>
          <a:xfrm>
            <a:off x="457201" y="1544637"/>
            <a:ext cx="5438007" cy="1362076"/>
          </a:xfrm>
        </p:spPr>
        <p:txBody>
          <a:bodyPr anchor="b">
            <a:noAutofit/>
          </a:bodyPr>
          <a:lstStyle>
            <a:lvl1pPr algn="l">
              <a:lnSpc>
                <a:spcPct val="100000"/>
              </a:lnSpc>
              <a:defRPr sz="2700" b="1" cap="none" baseline="0">
                <a:solidFill>
                  <a:srgbClr val="FFFFFF"/>
                </a:solidFill>
              </a:defRPr>
            </a:lvl1pPr>
          </a:lstStyle>
          <a:p>
            <a:r>
              <a:rPr lang="en-CA" dirty="0"/>
              <a:t>Chapter or Section title</a:t>
            </a:r>
            <a:endParaRPr lang="en-US" dirty="0"/>
          </a:p>
        </p:txBody>
      </p:sp>
      <p:sp>
        <p:nvSpPr>
          <p:cNvPr id="3" name="Text Placeholder 2"/>
          <p:cNvSpPr>
            <a:spLocks noGrp="1"/>
          </p:cNvSpPr>
          <p:nvPr>
            <p:ph type="body" idx="1" hasCustomPrompt="1"/>
          </p:nvPr>
        </p:nvSpPr>
        <p:spPr>
          <a:xfrm>
            <a:off x="457201" y="3062821"/>
            <a:ext cx="5438007" cy="1500188"/>
          </a:xfrm>
        </p:spPr>
        <p:txBody>
          <a:bodyPr lIns="0" tIns="0" rIns="0" bIns="0" anchor="t"/>
          <a:lstStyle>
            <a:lvl1pPr marL="0" indent="0">
              <a:lnSpc>
                <a:spcPct val="100000"/>
              </a:lnSpc>
              <a:buNone/>
              <a:defRPr sz="1912" baseline="0">
                <a:solidFill>
                  <a:srgbClr val="A6C8BC"/>
                </a:solidFill>
              </a:defRPr>
            </a:lvl1pPr>
            <a:lvl2pPr marL="439562" indent="0">
              <a:buNone/>
              <a:defRPr sz="1743">
                <a:solidFill>
                  <a:schemeClr val="tx1">
                    <a:tint val="75000"/>
                  </a:schemeClr>
                </a:solidFill>
              </a:defRPr>
            </a:lvl2pPr>
            <a:lvl3pPr marL="879125" indent="0">
              <a:buNone/>
              <a:defRPr sz="1518">
                <a:solidFill>
                  <a:schemeClr val="tx1">
                    <a:tint val="75000"/>
                  </a:schemeClr>
                </a:solidFill>
              </a:defRPr>
            </a:lvl3pPr>
            <a:lvl4pPr marL="1318687" indent="0">
              <a:buNone/>
              <a:defRPr sz="1350">
                <a:solidFill>
                  <a:schemeClr val="tx1">
                    <a:tint val="75000"/>
                  </a:schemeClr>
                </a:solidFill>
              </a:defRPr>
            </a:lvl4pPr>
            <a:lvl5pPr marL="1758250" indent="0">
              <a:buNone/>
              <a:defRPr sz="1350">
                <a:solidFill>
                  <a:schemeClr val="tx1">
                    <a:tint val="75000"/>
                  </a:schemeClr>
                </a:solidFill>
              </a:defRPr>
            </a:lvl5pPr>
            <a:lvl6pPr marL="2197813" indent="0">
              <a:buNone/>
              <a:defRPr sz="1350">
                <a:solidFill>
                  <a:schemeClr val="tx1">
                    <a:tint val="75000"/>
                  </a:schemeClr>
                </a:solidFill>
              </a:defRPr>
            </a:lvl6pPr>
            <a:lvl7pPr marL="2637375" indent="0">
              <a:buNone/>
              <a:defRPr sz="1350">
                <a:solidFill>
                  <a:schemeClr val="tx1">
                    <a:tint val="75000"/>
                  </a:schemeClr>
                </a:solidFill>
              </a:defRPr>
            </a:lvl7pPr>
            <a:lvl8pPr marL="3076938" indent="0">
              <a:buNone/>
              <a:defRPr sz="1350">
                <a:solidFill>
                  <a:schemeClr val="tx1">
                    <a:tint val="75000"/>
                  </a:schemeClr>
                </a:solidFill>
              </a:defRPr>
            </a:lvl8pPr>
            <a:lvl9pPr marL="3516500" indent="0">
              <a:buNone/>
              <a:defRPr sz="1350">
                <a:solidFill>
                  <a:schemeClr val="tx1">
                    <a:tint val="75000"/>
                  </a:schemeClr>
                </a:solidFill>
              </a:defRPr>
            </a:lvl9pPr>
          </a:lstStyle>
          <a:p>
            <a:pPr lvl="0"/>
            <a:r>
              <a:rPr lang="en-CA" dirty="0"/>
              <a:t>Brief description or intro to this section</a:t>
            </a:r>
          </a:p>
        </p:txBody>
      </p:sp>
      <p:pic>
        <p:nvPicPr>
          <p:cNvPr id="10" name="Picture 9" descr="ac-icon.eps"/>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222325" y="517457"/>
            <a:ext cx="542871" cy="533400"/>
          </a:xfrm>
          <a:prstGeom prst="rect">
            <a:avLst/>
          </a:prstGeom>
        </p:spPr>
      </p:pic>
      <p:sp>
        <p:nvSpPr>
          <p:cNvPr id="15" name="Slide Number Placeholder 8"/>
          <p:cNvSpPr>
            <a:spLocks noGrp="1"/>
          </p:cNvSpPr>
          <p:nvPr>
            <p:ph type="sldNum" sz="quarter" idx="11"/>
          </p:nvPr>
        </p:nvSpPr>
        <p:spPr>
          <a:xfrm>
            <a:off x="111973" y="6373091"/>
            <a:ext cx="297608" cy="365126"/>
          </a:xfrm>
        </p:spPr>
        <p:txBody>
          <a:bodyPr/>
          <a:lstStyle>
            <a:lvl1pPr>
              <a:defRPr>
                <a:solidFill>
                  <a:srgbClr val="96B7A6"/>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19796614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Col Key Point w/ Titl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1" y="576274"/>
            <a:ext cx="5329681" cy="1001980"/>
          </a:xfrm>
        </p:spPr>
        <p:txBody>
          <a:bodyPr anchor="t">
            <a:noAutofit/>
          </a:bodyPr>
          <a:lstStyle>
            <a:lvl1pPr>
              <a:defRPr sz="2700" b="1" baseline="0">
                <a:solidFill>
                  <a:srgbClr val="00673E"/>
                </a:solidFill>
              </a:defRPr>
            </a:lvl1pPr>
          </a:lstStyle>
          <a:p>
            <a:r>
              <a:rPr lang="en-CA" dirty="0"/>
              <a:t>This is a 1-column key point text slide</a:t>
            </a:r>
            <a:endParaRPr lang="en-US" dirty="0"/>
          </a:p>
        </p:txBody>
      </p:sp>
      <p:sp>
        <p:nvSpPr>
          <p:cNvPr id="12" name="Text Placeholder 5"/>
          <p:cNvSpPr>
            <a:spLocks noGrp="1"/>
          </p:cNvSpPr>
          <p:nvPr>
            <p:ph type="body" sz="quarter" idx="15" hasCustomPrompt="1"/>
          </p:nvPr>
        </p:nvSpPr>
        <p:spPr>
          <a:xfrm>
            <a:off x="457201" y="1803401"/>
            <a:ext cx="6533238" cy="3848100"/>
          </a:xfrm>
        </p:spPr>
        <p:txBody>
          <a:bodyPr/>
          <a:lstStyle>
            <a:lvl1pPr>
              <a:spcBef>
                <a:spcPts val="900"/>
              </a:spcBef>
              <a:defRPr baseline="0"/>
            </a:lvl1pPr>
            <a:lvl3pPr marL="1136254" indent="-257129">
              <a:buFont typeface="Arial"/>
              <a:buChar char="•"/>
              <a:defRPr/>
            </a:lvl3pPr>
            <a:lvl4pPr>
              <a:spcBef>
                <a:spcPts val="621"/>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3" name="Text Placeholder 9"/>
          <p:cNvSpPr>
            <a:spLocks noGrp="1"/>
          </p:cNvSpPr>
          <p:nvPr>
            <p:ph type="body" sz="quarter" idx="14" hasCustomPrompt="1"/>
          </p:nvPr>
        </p:nvSpPr>
        <p:spPr>
          <a:xfrm>
            <a:off x="7370753" y="551258"/>
            <a:ext cx="1316047" cy="5100242"/>
          </a:xfrm>
        </p:spPr>
        <p:txBody>
          <a:bodyPr/>
          <a:lstStyle>
            <a:lvl1pPr>
              <a:spcBef>
                <a:spcPts val="956"/>
              </a:spcBef>
              <a:defRPr sz="1181">
                <a:solidFill>
                  <a:srgbClr val="589278"/>
                </a:solidFill>
              </a:defRPr>
            </a:lvl1pPr>
          </a:lstStyle>
          <a:p>
            <a:pPr lvl="0"/>
            <a:r>
              <a:rPr lang="en-CA" dirty="0"/>
              <a:t>An optional annotation or extra information text box</a:t>
            </a:r>
            <a:endParaRPr lang="en-US" dirty="0"/>
          </a:p>
        </p:txBody>
      </p:sp>
      <p:pic>
        <p:nvPicPr>
          <p:cNvPr id="14" name="Picture 13"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248401"/>
            <a:ext cx="9143107" cy="614507"/>
          </a:xfrm>
          <a:prstGeom prst="rect">
            <a:avLst/>
          </a:prstGeom>
        </p:spPr>
      </p:pic>
      <p:pic>
        <p:nvPicPr>
          <p:cNvPr id="15" name="Picture 14"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832478" y="6446601"/>
            <a:ext cx="221980" cy="218107"/>
          </a:xfrm>
          <a:prstGeom prst="rect">
            <a:avLst/>
          </a:prstGeom>
        </p:spPr>
      </p:pic>
      <p:sp>
        <p:nvSpPr>
          <p:cNvPr id="16" name="Slide Number Placeholder 8"/>
          <p:cNvSpPr>
            <a:spLocks noGrp="1"/>
          </p:cNvSpPr>
          <p:nvPr>
            <p:ph type="sldNum" sz="quarter" idx="19"/>
          </p:nvPr>
        </p:nvSpPr>
        <p:spPr>
          <a:xfrm>
            <a:off x="111973" y="6373091"/>
            <a:ext cx="297608" cy="365126"/>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708653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3.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13.xml"/><Relationship Id="rId5" Type="http://schemas.openxmlformats.org/officeDocument/2006/relationships/image" Target="../media/image20.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Traffic Violation Analysis - Presentation Slides</a:t>
            </a:r>
            <a:endParaRPr lang="en-US" dirty="0"/>
          </a:p>
        </p:txBody>
      </p:sp>
      <p:sp>
        <p:nvSpPr>
          <p:cNvPr id="5" name="Slide Number Placeholder 4"/>
          <p:cNvSpPr>
            <a:spLocks noGrp="1"/>
          </p:cNvSpPr>
          <p:nvPr>
            <p:ph type="sldNum" sz="quarter" idx="11"/>
          </p:nvPr>
        </p:nvSpPr>
        <p:spPr>
          <a:xfrm>
            <a:off x="111972" y="5679057"/>
            <a:ext cx="297608" cy="273817"/>
          </a:xfrm>
        </p:spPr>
        <p:txBody>
          <a:bodyPr/>
          <a:lstStyle/>
          <a:p>
            <a:fld id="{DEF3F5F5-7776-394F-A41F-3BAFC9CC9F8E}" type="slidenum">
              <a:rPr lang="en-US" smtClean="0"/>
              <a:pPr/>
              <a:t>1</a:t>
            </a:fld>
            <a:endParaRPr lang="en-US" dirty="0"/>
          </a:p>
        </p:txBody>
      </p:sp>
      <p:sp>
        <p:nvSpPr>
          <p:cNvPr id="6" name="Text Placeholder 5">
            <a:extLst>
              <a:ext uri="{FF2B5EF4-FFF2-40B4-BE49-F238E27FC236}">
                <a16:creationId xmlns:a16="http://schemas.microsoft.com/office/drawing/2014/main" id="{89F74458-4A19-C343-8AA1-B05439EAA63B}"/>
              </a:ext>
            </a:extLst>
          </p:cNvPr>
          <p:cNvSpPr>
            <a:spLocks noGrp="1"/>
          </p:cNvSpPr>
          <p:nvPr>
            <p:ph type="body" idx="1"/>
          </p:nvPr>
        </p:nvSpPr>
        <p:spPr>
          <a:xfrm>
            <a:off x="1981201" y="3261604"/>
            <a:ext cx="5438007" cy="1500188"/>
          </a:xfrm>
        </p:spPr>
        <p:txBody>
          <a:bodyPr/>
          <a:lstStyle/>
          <a:p>
            <a:r>
              <a:rPr lang="en-US" dirty="0">
                <a:solidFill>
                  <a:schemeClr val="bg1"/>
                </a:solidFill>
              </a:rPr>
              <a:t>Discovering Contributing Factors to Traffic Violations</a:t>
            </a:r>
          </a:p>
          <a:p>
            <a:r>
              <a:rPr lang="en-US" dirty="0">
                <a:solidFill>
                  <a:schemeClr val="bg1"/>
                </a:solidFill>
              </a:rPr>
              <a:t>A Comprehensive Machine Learning Approach Using Classification, Clustering, and Anomaly Detection</a:t>
            </a:r>
          </a:p>
        </p:txBody>
      </p:sp>
      <p:sp>
        <p:nvSpPr>
          <p:cNvPr id="4" name="TextBox 3">
            <a:extLst>
              <a:ext uri="{FF2B5EF4-FFF2-40B4-BE49-F238E27FC236}">
                <a16:creationId xmlns:a16="http://schemas.microsoft.com/office/drawing/2014/main" id="{60E9370A-88A5-41C3-EAB1-EBD5FF83F547}"/>
              </a:ext>
            </a:extLst>
          </p:cNvPr>
          <p:cNvSpPr txBox="1"/>
          <p:nvPr/>
        </p:nvSpPr>
        <p:spPr>
          <a:xfrm>
            <a:off x="5671930" y="5679057"/>
            <a:ext cx="3246783" cy="923330"/>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r>
              <a:rPr lang="en-US" dirty="0"/>
              <a:t>- Joseph Weng 	041076091</a:t>
            </a:r>
          </a:p>
          <a:p>
            <a:r>
              <a:rPr lang="en-US" dirty="0"/>
              <a:t>- Hye Ran Yoo 		041145212</a:t>
            </a:r>
          </a:p>
          <a:p>
            <a:r>
              <a:rPr lang="en-US" dirty="0"/>
              <a:t>- Peng Wang 		041107730</a:t>
            </a:r>
          </a:p>
        </p:txBody>
      </p:sp>
    </p:spTree>
    <p:extLst>
      <p:ext uri="{BB962C8B-B14F-4D97-AF65-F5344CB8AC3E}">
        <p14:creationId xmlns:p14="http://schemas.microsoft.com/office/powerpoint/2010/main" val="3573037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A0063-D508-3D42-CAB0-9513B7572DDB}"/>
              </a:ext>
            </a:extLst>
          </p:cNvPr>
          <p:cNvSpPr>
            <a:spLocks noGrp="1"/>
          </p:cNvSpPr>
          <p:nvPr>
            <p:ph type="title"/>
          </p:nvPr>
        </p:nvSpPr>
        <p:spPr>
          <a:xfrm>
            <a:off x="311426" y="194526"/>
            <a:ext cx="8521148" cy="616422"/>
          </a:xfrm>
        </p:spPr>
        <p:txBody>
          <a:bodyPr/>
          <a:lstStyle/>
          <a:p>
            <a:r>
              <a:rPr lang="en-CA" sz="2800" dirty="0"/>
              <a:t>Introduction</a:t>
            </a:r>
          </a:p>
        </p:txBody>
      </p:sp>
      <p:sp>
        <p:nvSpPr>
          <p:cNvPr id="3" name="Text Placeholder 2">
            <a:extLst>
              <a:ext uri="{FF2B5EF4-FFF2-40B4-BE49-F238E27FC236}">
                <a16:creationId xmlns:a16="http://schemas.microsoft.com/office/drawing/2014/main" id="{EABDB44B-1CDC-2C56-156F-8CBDF0683A47}"/>
              </a:ext>
            </a:extLst>
          </p:cNvPr>
          <p:cNvSpPr>
            <a:spLocks noGrp="1"/>
          </p:cNvSpPr>
          <p:nvPr>
            <p:ph type="body" sz="quarter" idx="15"/>
          </p:nvPr>
        </p:nvSpPr>
        <p:spPr>
          <a:xfrm>
            <a:off x="324677" y="640798"/>
            <a:ext cx="8521149" cy="5576404"/>
          </a:xfrm>
        </p:spPr>
        <p:txBody>
          <a:bodyPr>
            <a:noAutofit/>
          </a:bodyPr>
          <a:lstStyle/>
          <a:p>
            <a:r>
              <a:rPr lang="en-US" sz="2100" b="1" dirty="0"/>
              <a:t>Project Objective</a:t>
            </a:r>
          </a:p>
          <a:p>
            <a:pPr marL="0" indent="0">
              <a:buNone/>
            </a:pPr>
            <a:r>
              <a:rPr lang="en-US" sz="2100" dirty="0"/>
              <a:t>	Analyze traffic violation patterns in Montgomery County</a:t>
            </a:r>
          </a:p>
          <a:p>
            <a:pPr marL="0" indent="0">
              <a:buNone/>
            </a:pPr>
            <a:r>
              <a:rPr lang="en-US" sz="2100" dirty="0"/>
              <a:t>	Identify key contributing factors using ML techniques</a:t>
            </a:r>
          </a:p>
          <a:p>
            <a:r>
              <a:rPr lang="en-US" sz="2100" b="1" dirty="0"/>
              <a:t>Business Question</a:t>
            </a:r>
          </a:p>
          <a:p>
            <a:pPr marL="0" indent="0">
              <a:buNone/>
            </a:pPr>
            <a:r>
              <a:rPr lang="en-US" sz="2100" dirty="0"/>
              <a:t>	"What are the key contributing factors that lead to different types </a:t>
            </a:r>
          </a:p>
          <a:p>
            <a:pPr marL="0" indent="0">
              <a:buNone/>
            </a:pPr>
            <a:r>
              <a:rPr lang="en-US" sz="2100" dirty="0"/>
              <a:t>	  of traffic violations?"</a:t>
            </a:r>
          </a:p>
          <a:p>
            <a:r>
              <a:rPr lang="en-US" sz="2100" b="1" dirty="0"/>
              <a:t>Three ML Approaches</a:t>
            </a:r>
          </a:p>
          <a:p>
            <a:pPr marL="0" indent="0">
              <a:buNone/>
            </a:pPr>
            <a:r>
              <a:rPr lang="en-US" sz="2100" dirty="0"/>
              <a:t>	1. Classification (Decision Tree) - Hye Ran Yoo</a:t>
            </a:r>
          </a:p>
          <a:p>
            <a:pPr marL="0" indent="0">
              <a:buNone/>
            </a:pPr>
            <a:r>
              <a:rPr lang="en-US" sz="2100" dirty="0"/>
              <a:t>	2. Clustering (</a:t>
            </a:r>
            <a:r>
              <a:rPr lang="en-US" sz="2100" dirty="0" err="1"/>
              <a:t>KMeans</a:t>
            </a:r>
            <a:r>
              <a:rPr lang="en-US" sz="2100" dirty="0"/>
              <a:t>) - Joseph Weng</a:t>
            </a:r>
          </a:p>
          <a:p>
            <a:pPr marL="0" indent="0">
              <a:buNone/>
            </a:pPr>
            <a:r>
              <a:rPr lang="en-US" sz="2100" dirty="0"/>
              <a:t>	3. Outlier Detection (LOF + Distance) - Peng Wang</a:t>
            </a:r>
          </a:p>
          <a:p>
            <a:r>
              <a:rPr lang="en-US" sz="2100" b="1" dirty="0"/>
              <a:t>Dataset</a:t>
            </a:r>
          </a:p>
          <a:p>
            <a:pPr marL="0" indent="0">
              <a:buNone/>
            </a:pPr>
            <a:r>
              <a:rPr lang="en-US" sz="2100" dirty="0"/>
              <a:t>	Source: Montgomery County Traffic Violations</a:t>
            </a:r>
          </a:p>
          <a:p>
            <a:pPr marL="0" indent="0">
              <a:buNone/>
            </a:pPr>
            <a:r>
              <a:rPr lang="en-US" sz="2100" dirty="0"/>
              <a:t>	Size: 2,057,983 records × 43 columns</a:t>
            </a:r>
            <a:endParaRPr lang="en-CA" sz="2100" dirty="0"/>
          </a:p>
        </p:txBody>
      </p:sp>
      <p:sp>
        <p:nvSpPr>
          <p:cNvPr id="5" name="Slide Number Placeholder 4">
            <a:extLst>
              <a:ext uri="{FF2B5EF4-FFF2-40B4-BE49-F238E27FC236}">
                <a16:creationId xmlns:a16="http://schemas.microsoft.com/office/drawing/2014/main" id="{6FDD0FF1-E60E-178B-F20F-30A34EC73898}"/>
              </a:ext>
            </a:extLst>
          </p:cNvPr>
          <p:cNvSpPr>
            <a:spLocks noGrp="1"/>
          </p:cNvSpPr>
          <p:nvPr>
            <p:ph type="sldNum" sz="quarter" idx="19"/>
          </p:nvPr>
        </p:nvSpPr>
        <p:spPr/>
        <p:txBody>
          <a:bodyPr/>
          <a:lstStyle/>
          <a:p>
            <a:fld id="{DEF3F5F5-7776-394F-A41F-3BAFC9CC9F8E}" type="slidenum">
              <a:rPr lang="en-US" smtClean="0"/>
              <a:pPr/>
              <a:t>2</a:t>
            </a:fld>
            <a:endParaRPr lang="en-US" dirty="0"/>
          </a:p>
        </p:txBody>
      </p:sp>
    </p:spTree>
    <p:extLst>
      <p:ext uri="{BB962C8B-B14F-4D97-AF65-F5344CB8AC3E}">
        <p14:creationId xmlns:p14="http://schemas.microsoft.com/office/powerpoint/2010/main" val="36767851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F1151-982F-4408-B3CC-B163AD0E5F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B626D7-6B7A-98F6-B317-04C471848E4C}"/>
              </a:ext>
            </a:extLst>
          </p:cNvPr>
          <p:cNvSpPr>
            <a:spLocks noGrp="1"/>
          </p:cNvSpPr>
          <p:nvPr>
            <p:ph type="title"/>
          </p:nvPr>
        </p:nvSpPr>
        <p:spPr>
          <a:xfrm>
            <a:off x="298174" y="354885"/>
            <a:ext cx="8521148" cy="768822"/>
          </a:xfrm>
        </p:spPr>
        <p:txBody>
          <a:bodyPr/>
          <a:lstStyle/>
          <a:p>
            <a:r>
              <a:rPr lang="en-CA" sz="2800" dirty="0"/>
              <a:t>Business Understanding</a:t>
            </a:r>
          </a:p>
        </p:txBody>
      </p:sp>
      <p:sp>
        <p:nvSpPr>
          <p:cNvPr id="3" name="Text Placeholder 2">
            <a:extLst>
              <a:ext uri="{FF2B5EF4-FFF2-40B4-BE49-F238E27FC236}">
                <a16:creationId xmlns:a16="http://schemas.microsoft.com/office/drawing/2014/main" id="{0DD122F6-D0BF-0039-3AA5-D3286BCC7B45}"/>
              </a:ext>
            </a:extLst>
          </p:cNvPr>
          <p:cNvSpPr>
            <a:spLocks noGrp="1"/>
          </p:cNvSpPr>
          <p:nvPr>
            <p:ph type="body" sz="quarter" idx="15"/>
          </p:nvPr>
        </p:nvSpPr>
        <p:spPr>
          <a:xfrm>
            <a:off x="298174" y="1445834"/>
            <a:ext cx="8521149" cy="4605130"/>
          </a:xfrm>
        </p:spPr>
        <p:txBody>
          <a:bodyPr>
            <a:normAutofit/>
          </a:bodyPr>
          <a:lstStyle/>
          <a:p>
            <a:r>
              <a:rPr lang="en-CA" sz="2000" b="1" dirty="0"/>
              <a:t>Business Objectives</a:t>
            </a:r>
          </a:p>
          <a:p>
            <a:pPr marL="0" indent="0">
              <a:buNone/>
            </a:pPr>
            <a:r>
              <a:rPr lang="en-CA" sz="2000" dirty="0"/>
              <a:t>	-Enhance public safety</a:t>
            </a:r>
          </a:p>
          <a:p>
            <a:pPr marL="0" indent="0">
              <a:buNone/>
            </a:pPr>
            <a:r>
              <a:rPr lang="en-CA" sz="2000" dirty="0"/>
              <a:t>	-Optimize resource allocation</a:t>
            </a:r>
          </a:p>
          <a:p>
            <a:pPr marL="0" indent="0">
              <a:buNone/>
            </a:pPr>
            <a:r>
              <a:rPr lang="en-CA" sz="2000" dirty="0"/>
              <a:t>	-Improve traffic management</a:t>
            </a:r>
          </a:p>
          <a:p>
            <a:pPr marL="0" indent="0">
              <a:buNone/>
            </a:pPr>
            <a:r>
              <a:rPr lang="en-CA" sz="2000" dirty="0"/>
              <a:t>	-Detect anomalies</a:t>
            </a:r>
          </a:p>
          <a:p>
            <a:pPr marL="0" indent="0">
              <a:buNone/>
            </a:pPr>
            <a:endParaRPr lang="en-CA" sz="2000" dirty="0"/>
          </a:p>
          <a:p>
            <a:r>
              <a:rPr lang="en-CA" sz="2000" b="1" dirty="0"/>
              <a:t>Data Mining Goals</a:t>
            </a:r>
          </a:p>
          <a:p>
            <a:pPr marL="0" indent="0">
              <a:buNone/>
            </a:pPr>
            <a:r>
              <a:rPr lang="en-CA" sz="2000" dirty="0"/>
              <a:t>	-Classification: Identify key factors (Target: &gt;70% accuracy)</a:t>
            </a:r>
          </a:p>
          <a:p>
            <a:pPr marL="0" indent="0">
              <a:buNone/>
            </a:pPr>
            <a:r>
              <a:rPr lang="en-CA" sz="2000" dirty="0"/>
              <a:t>	-Clustering: Discover common violation patterns</a:t>
            </a:r>
          </a:p>
          <a:p>
            <a:pPr marL="0" indent="0">
              <a:buNone/>
            </a:pPr>
            <a:r>
              <a:rPr lang="en-CA" sz="2000" dirty="0"/>
              <a:t>	-Outlier Detection: Find anomalous violations</a:t>
            </a:r>
          </a:p>
          <a:p>
            <a:endParaRPr lang="en-CA" sz="2000" dirty="0"/>
          </a:p>
        </p:txBody>
      </p:sp>
      <p:sp>
        <p:nvSpPr>
          <p:cNvPr id="5" name="Slide Number Placeholder 4">
            <a:extLst>
              <a:ext uri="{FF2B5EF4-FFF2-40B4-BE49-F238E27FC236}">
                <a16:creationId xmlns:a16="http://schemas.microsoft.com/office/drawing/2014/main" id="{CA8DD918-6501-CB5A-8578-7D261371BFB1}"/>
              </a:ext>
            </a:extLst>
          </p:cNvPr>
          <p:cNvSpPr>
            <a:spLocks noGrp="1"/>
          </p:cNvSpPr>
          <p:nvPr>
            <p:ph type="sldNum" sz="quarter" idx="19"/>
          </p:nvPr>
        </p:nvSpPr>
        <p:spPr/>
        <p:txBody>
          <a:bodyPr/>
          <a:lstStyle/>
          <a:p>
            <a:fld id="{DEF3F5F5-7776-394F-A41F-3BAFC9CC9F8E}" type="slidenum">
              <a:rPr lang="en-US" smtClean="0"/>
              <a:pPr/>
              <a:t>3</a:t>
            </a:fld>
            <a:endParaRPr lang="en-US" dirty="0"/>
          </a:p>
        </p:txBody>
      </p:sp>
    </p:spTree>
    <p:extLst>
      <p:ext uri="{BB962C8B-B14F-4D97-AF65-F5344CB8AC3E}">
        <p14:creationId xmlns:p14="http://schemas.microsoft.com/office/powerpoint/2010/main" val="23515417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654CE-D27A-4152-6069-71F22A45C6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004581-7C48-06E4-10B8-7FDDFCEE875E}"/>
              </a:ext>
            </a:extLst>
          </p:cNvPr>
          <p:cNvSpPr>
            <a:spLocks noGrp="1"/>
          </p:cNvSpPr>
          <p:nvPr>
            <p:ph type="title"/>
          </p:nvPr>
        </p:nvSpPr>
        <p:spPr>
          <a:xfrm>
            <a:off x="298174" y="354885"/>
            <a:ext cx="8521148" cy="768822"/>
          </a:xfrm>
        </p:spPr>
        <p:txBody>
          <a:bodyPr/>
          <a:lstStyle/>
          <a:p>
            <a:r>
              <a:rPr lang="en-CA" sz="2800" dirty="0"/>
              <a:t>Data Understanding</a:t>
            </a:r>
          </a:p>
        </p:txBody>
      </p:sp>
      <p:sp>
        <p:nvSpPr>
          <p:cNvPr id="3" name="Text Placeholder 2">
            <a:extLst>
              <a:ext uri="{FF2B5EF4-FFF2-40B4-BE49-F238E27FC236}">
                <a16:creationId xmlns:a16="http://schemas.microsoft.com/office/drawing/2014/main" id="{0BD1B11A-C3CE-BBBD-8CEA-E07F5CD97F9E}"/>
              </a:ext>
            </a:extLst>
          </p:cNvPr>
          <p:cNvSpPr>
            <a:spLocks noGrp="1"/>
          </p:cNvSpPr>
          <p:nvPr>
            <p:ph type="body" sz="quarter" idx="15"/>
          </p:nvPr>
        </p:nvSpPr>
        <p:spPr>
          <a:xfrm>
            <a:off x="298173" y="1123707"/>
            <a:ext cx="8521149" cy="4974016"/>
          </a:xfrm>
        </p:spPr>
        <p:txBody>
          <a:bodyPr>
            <a:noAutofit/>
          </a:bodyPr>
          <a:lstStyle/>
          <a:p>
            <a:pPr>
              <a:spcBef>
                <a:spcPts val="300"/>
              </a:spcBef>
            </a:pPr>
            <a:r>
              <a:rPr lang="en-CA" sz="2000" b="1" dirty="0"/>
              <a:t>Dataset Overview</a:t>
            </a:r>
          </a:p>
          <a:p>
            <a:pPr marL="0" indent="0">
              <a:spcBef>
                <a:spcPts val="300"/>
              </a:spcBef>
              <a:buNone/>
            </a:pPr>
            <a:r>
              <a:rPr lang="en-CA" sz="2000" dirty="0"/>
              <a:t>	2,057,983 records × 43 columns</a:t>
            </a:r>
          </a:p>
          <a:p>
            <a:pPr marL="0" indent="0">
              <a:spcBef>
                <a:spcPts val="300"/>
              </a:spcBef>
              <a:buNone/>
            </a:pPr>
            <a:r>
              <a:rPr lang="en-CA" sz="2000" dirty="0"/>
              <a:t>	3 numeric, 27 categorical, 12 </a:t>
            </a:r>
            <a:r>
              <a:rPr lang="en-CA" sz="2000" dirty="0" err="1"/>
              <a:t>boolean</a:t>
            </a:r>
            <a:endParaRPr lang="en-CA" sz="2000" dirty="0"/>
          </a:p>
          <a:p>
            <a:pPr marL="0" indent="0">
              <a:spcBef>
                <a:spcPts val="300"/>
              </a:spcBef>
              <a:buNone/>
            </a:pPr>
            <a:endParaRPr lang="en-CA" sz="2000" dirty="0"/>
          </a:p>
          <a:p>
            <a:pPr>
              <a:spcBef>
                <a:spcPts val="300"/>
              </a:spcBef>
            </a:pPr>
            <a:r>
              <a:rPr lang="en-CA" sz="2000" b="1" dirty="0"/>
              <a:t>Key Features</a:t>
            </a:r>
          </a:p>
          <a:p>
            <a:pPr marL="0" indent="0">
              <a:spcBef>
                <a:spcPts val="300"/>
              </a:spcBef>
              <a:buNone/>
            </a:pPr>
            <a:r>
              <a:rPr lang="en-CA" sz="2000" dirty="0"/>
              <a:t>	Temporal: Time, Date</a:t>
            </a:r>
          </a:p>
          <a:p>
            <a:pPr marL="0" indent="0">
              <a:spcBef>
                <a:spcPts val="300"/>
              </a:spcBef>
              <a:buNone/>
            </a:pPr>
            <a:r>
              <a:rPr lang="en-CA" sz="2000" dirty="0"/>
              <a:t>	Geographic: Lat/Long, </a:t>
            </a:r>
            <a:r>
              <a:rPr lang="en-CA" sz="2000" dirty="0" err="1"/>
              <a:t>SubAgency</a:t>
            </a:r>
            <a:endParaRPr lang="en-CA" sz="2000" dirty="0"/>
          </a:p>
          <a:p>
            <a:pPr marL="0" indent="0">
              <a:spcBef>
                <a:spcPts val="300"/>
              </a:spcBef>
              <a:buNone/>
            </a:pPr>
            <a:r>
              <a:rPr lang="en-CA" sz="2000" dirty="0"/>
              <a:t>	Vehicle: Make, Model, Year</a:t>
            </a:r>
          </a:p>
          <a:p>
            <a:pPr marL="0" indent="0">
              <a:spcBef>
                <a:spcPts val="300"/>
              </a:spcBef>
              <a:buNone/>
            </a:pPr>
            <a:r>
              <a:rPr lang="en-CA" sz="2000" dirty="0"/>
              <a:t>	Violation: Type, Description</a:t>
            </a:r>
          </a:p>
          <a:p>
            <a:pPr marL="0" indent="0">
              <a:spcBef>
                <a:spcPts val="300"/>
              </a:spcBef>
              <a:buNone/>
            </a:pPr>
            <a:endParaRPr lang="en-CA" sz="2000" dirty="0"/>
          </a:p>
          <a:p>
            <a:pPr>
              <a:spcBef>
                <a:spcPts val="300"/>
              </a:spcBef>
            </a:pPr>
            <a:r>
              <a:rPr lang="en-CA" sz="2000" b="1" dirty="0"/>
              <a:t>Data Quality Issues</a:t>
            </a:r>
          </a:p>
          <a:p>
            <a:pPr marL="0" indent="0">
              <a:spcBef>
                <a:spcPts val="300"/>
              </a:spcBef>
              <a:buNone/>
            </a:pPr>
            <a:r>
              <a:rPr lang="en-CA" sz="2000" dirty="0"/>
              <a:t>	887,412 duplicate records</a:t>
            </a:r>
          </a:p>
          <a:p>
            <a:pPr marL="0" indent="0">
              <a:spcBef>
                <a:spcPts val="300"/>
              </a:spcBef>
              <a:buNone/>
            </a:pPr>
            <a:r>
              <a:rPr lang="en-CA" sz="2000" dirty="0"/>
              <a:t>	17 columns with missing values</a:t>
            </a:r>
          </a:p>
          <a:p>
            <a:pPr marL="0" indent="0">
              <a:spcBef>
                <a:spcPts val="300"/>
              </a:spcBef>
              <a:buNone/>
            </a:pPr>
            <a:r>
              <a:rPr lang="en-CA" sz="2000" dirty="0"/>
              <a:t>	High cardinality: Location (268K unique)</a:t>
            </a:r>
          </a:p>
          <a:p>
            <a:pPr>
              <a:spcBef>
                <a:spcPts val="300"/>
              </a:spcBef>
            </a:pPr>
            <a:endParaRPr lang="en-CA" sz="2000" dirty="0"/>
          </a:p>
        </p:txBody>
      </p:sp>
      <p:sp>
        <p:nvSpPr>
          <p:cNvPr id="5" name="Slide Number Placeholder 4">
            <a:extLst>
              <a:ext uri="{FF2B5EF4-FFF2-40B4-BE49-F238E27FC236}">
                <a16:creationId xmlns:a16="http://schemas.microsoft.com/office/drawing/2014/main" id="{A205B1C1-BDD9-1327-7769-2EE52AB70B61}"/>
              </a:ext>
            </a:extLst>
          </p:cNvPr>
          <p:cNvSpPr>
            <a:spLocks noGrp="1"/>
          </p:cNvSpPr>
          <p:nvPr>
            <p:ph type="sldNum" sz="quarter" idx="19"/>
          </p:nvPr>
        </p:nvSpPr>
        <p:spPr/>
        <p:txBody>
          <a:bodyPr/>
          <a:lstStyle/>
          <a:p>
            <a:fld id="{DEF3F5F5-7776-394F-A41F-3BAFC9CC9F8E}" type="slidenum">
              <a:rPr lang="en-US" smtClean="0"/>
              <a:pPr/>
              <a:t>4</a:t>
            </a:fld>
            <a:endParaRPr lang="en-US" dirty="0"/>
          </a:p>
        </p:txBody>
      </p:sp>
    </p:spTree>
    <p:extLst>
      <p:ext uri="{BB962C8B-B14F-4D97-AF65-F5344CB8AC3E}">
        <p14:creationId xmlns:p14="http://schemas.microsoft.com/office/powerpoint/2010/main" val="24803023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8E2B2-6AC8-90D0-5D1F-03BDD982FE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3FFC01-EB1A-3F46-C1FA-D00977411090}"/>
              </a:ext>
            </a:extLst>
          </p:cNvPr>
          <p:cNvSpPr>
            <a:spLocks noGrp="1"/>
          </p:cNvSpPr>
          <p:nvPr>
            <p:ph type="title"/>
          </p:nvPr>
        </p:nvSpPr>
        <p:spPr>
          <a:xfrm>
            <a:off x="298174" y="354885"/>
            <a:ext cx="8521148" cy="768822"/>
          </a:xfrm>
        </p:spPr>
        <p:txBody>
          <a:bodyPr/>
          <a:lstStyle/>
          <a:p>
            <a:r>
              <a:rPr lang="en-CA" sz="2800" dirty="0"/>
              <a:t>Data Preparation</a:t>
            </a:r>
          </a:p>
        </p:txBody>
      </p:sp>
      <p:sp>
        <p:nvSpPr>
          <p:cNvPr id="3" name="Text Placeholder 2">
            <a:extLst>
              <a:ext uri="{FF2B5EF4-FFF2-40B4-BE49-F238E27FC236}">
                <a16:creationId xmlns:a16="http://schemas.microsoft.com/office/drawing/2014/main" id="{2A923714-9E69-0548-8D11-3BE048BF5414}"/>
              </a:ext>
            </a:extLst>
          </p:cNvPr>
          <p:cNvSpPr>
            <a:spLocks noGrp="1"/>
          </p:cNvSpPr>
          <p:nvPr>
            <p:ph type="body" sz="quarter" idx="15"/>
          </p:nvPr>
        </p:nvSpPr>
        <p:spPr>
          <a:xfrm>
            <a:off x="298173" y="900186"/>
            <a:ext cx="8521149" cy="5259766"/>
          </a:xfrm>
        </p:spPr>
        <p:txBody>
          <a:bodyPr>
            <a:noAutofit/>
          </a:bodyPr>
          <a:lstStyle/>
          <a:p>
            <a:pPr>
              <a:spcBef>
                <a:spcPts val="300"/>
              </a:spcBef>
            </a:pPr>
            <a:r>
              <a:rPr lang="en-CA" sz="2000" b="1" dirty="0"/>
              <a:t>Data Selection</a:t>
            </a:r>
          </a:p>
          <a:p>
            <a:pPr marL="0" indent="0">
              <a:spcBef>
                <a:spcPts val="300"/>
              </a:spcBef>
              <a:buNone/>
            </a:pPr>
            <a:r>
              <a:rPr lang="en-CA" sz="2000" dirty="0"/>
              <a:t>	- Classification: 23 features		- Clustering: 19 features</a:t>
            </a:r>
          </a:p>
          <a:p>
            <a:pPr marL="0" indent="0">
              <a:spcBef>
                <a:spcPts val="300"/>
              </a:spcBef>
              <a:buNone/>
            </a:pPr>
            <a:r>
              <a:rPr lang="en-CA" sz="2000" dirty="0"/>
              <a:t>	- Outlier Detection: 22 features</a:t>
            </a:r>
          </a:p>
          <a:p>
            <a:pPr marL="0" indent="0">
              <a:spcBef>
                <a:spcPts val="300"/>
              </a:spcBef>
              <a:buNone/>
            </a:pPr>
            <a:endParaRPr lang="en-CA" sz="2000" dirty="0"/>
          </a:p>
          <a:p>
            <a:pPr>
              <a:spcBef>
                <a:spcPts val="300"/>
              </a:spcBef>
            </a:pPr>
            <a:r>
              <a:rPr lang="en-CA" sz="2000" b="1" dirty="0"/>
              <a:t>Data Cleaning</a:t>
            </a:r>
          </a:p>
          <a:p>
            <a:pPr marL="0" indent="0">
              <a:spcBef>
                <a:spcPts val="300"/>
              </a:spcBef>
              <a:buNone/>
            </a:pPr>
            <a:r>
              <a:rPr lang="en-CA" sz="2000" dirty="0"/>
              <a:t>	- Removed 887,412 duplicates		- Handled missing values</a:t>
            </a:r>
          </a:p>
          <a:p>
            <a:pPr marL="0" indent="0">
              <a:spcBef>
                <a:spcPts val="300"/>
              </a:spcBef>
              <a:buNone/>
            </a:pPr>
            <a:r>
              <a:rPr lang="en-CA" sz="2000" dirty="0"/>
              <a:t>	- Final: 10,000 samples (stratified)</a:t>
            </a:r>
          </a:p>
          <a:p>
            <a:pPr marL="0" indent="0">
              <a:spcBef>
                <a:spcPts val="300"/>
              </a:spcBef>
              <a:buNone/>
            </a:pPr>
            <a:endParaRPr lang="en-CA" sz="2000" dirty="0"/>
          </a:p>
          <a:p>
            <a:pPr>
              <a:spcBef>
                <a:spcPts val="300"/>
              </a:spcBef>
            </a:pPr>
            <a:r>
              <a:rPr lang="en-CA" sz="2000" b="1" dirty="0"/>
              <a:t>Feature Engineering</a:t>
            </a:r>
          </a:p>
          <a:p>
            <a:pPr marL="0" indent="0">
              <a:spcBef>
                <a:spcPts val="300"/>
              </a:spcBef>
              <a:buNone/>
            </a:pPr>
            <a:r>
              <a:rPr lang="en-CA" sz="2000" dirty="0"/>
              <a:t>	- Temporal: Hour, Month, </a:t>
            </a:r>
            <a:r>
              <a:rPr lang="en-CA" sz="2000" dirty="0" err="1"/>
              <a:t>DayOfWeek</a:t>
            </a:r>
            <a:r>
              <a:rPr lang="en-CA" sz="2000" dirty="0"/>
              <a:t>, </a:t>
            </a:r>
            <a:r>
              <a:rPr lang="en-CA" sz="2000" dirty="0" err="1"/>
              <a:t>IsWeekend</a:t>
            </a:r>
            <a:endParaRPr lang="en-CA" sz="2000" dirty="0"/>
          </a:p>
          <a:p>
            <a:pPr marL="0" indent="0">
              <a:spcBef>
                <a:spcPts val="300"/>
              </a:spcBef>
              <a:buNone/>
            </a:pPr>
            <a:r>
              <a:rPr lang="en-CA" sz="2000" dirty="0"/>
              <a:t>	- Vehicle: </a:t>
            </a:r>
            <a:r>
              <a:rPr lang="en-CA" sz="2000" dirty="0" err="1"/>
              <a:t>VehicleAge</a:t>
            </a:r>
            <a:endParaRPr lang="en-CA" sz="2000" dirty="0"/>
          </a:p>
          <a:p>
            <a:pPr marL="0" indent="0">
              <a:spcBef>
                <a:spcPts val="300"/>
              </a:spcBef>
              <a:buNone/>
            </a:pPr>
            <a:r>
              <a:rPr lang="en-CA" sz="2000" dirty="0"/>
              <a:t>	- Geographic: 8 regions from clustering</a:t>
            </a:r>
          </a:p>
          <a:p>
            <a:pPr marL="0" indent="0">
              <a:spcBef>
                <a:spcPts val="300"/>
              </a:spcBef>
              <a:buNone/>
            </a:pPr>
            <a:endParaRPr lang="en-CA" sz="2000" dirty="0"/>
          </a:p>
          <a:p>
            <a:pPr>
              <a:spcBef>
                <a:spcPts val="300"/>
              </a:spcBef>
            </a:pPr>
            <a:r>
              <a:rPr lang="en-CA" sz="2000" b="1" dirty="0"/>
              <a:t>Transformation</a:t>
            </a:r>
          </a:p>
          <a:p>
            <a:pPr marL="0" indent="0">
              <a:spcBef>
                <a:spcPts val="300"/>
              </a:spcBef>
              <a:buNone/>
            </a:pPr>
            <a:r>
              <a:rPr lang="en-CA" sz="2000" dirty="0"/>
              <a:t>	- One-hot encoding			- </a:t>
            </a:r>
            <a:r>
              <a:rPr lang="en-CA" sz="2000" dirty="0" err="1"/>
              <a:t>StandardScaler</a:t>
            </a:r>
            <a:r>
              <a:rPr lang="en-CA" sz="2000" dirty="0"/>
              <a:t> normalization</a:t>
            </a:r>
          </a:p>
          <a:p>
            <a:pPr>
              <a:spcBef>
                <a:spcPts val="300"/>
              </a:spcBef>
            </a:pPr>
            <a:endParaRPr lang="en-CA" sz="2000" dirty="0"/>
          </a:p>
        </p:txBody>
      </p:sp>
      <p:sp>
        <p:nvSpPr>
          <p:cNvPr id="5" name="Slide Number Placeholder 4">
            <a:extLst>
              <a:ext uri="{FF2B5EF4-FFF2-40B4-BE49-F238E27FC236}">
                <a16:creationId xmlns:a16="http://schemas.microsoft.com/office/drawing/2014/main" id="{4D405D5F-E557-F3A2-668D-FD5A7959846F}"/>
              </a:ext>
            </a:extLst>
          </p:cNvPr>
          <p:cNvSpPr>
            <a:spLocks noGrp="1"/>
          </p:cNvSpPr>
          <p:nvPr>
            <p:ph type="sldNum" sz="quarter" idx="19"/>
          </p:nvPr>
        </p:nvSpPr>
        <p:spPr/>
        <p:txBody>
          <a:bodyPr/>
          <a:lstStyle/>
          <a:p>
            <a:fld id="{DEF3F5F5-7776-394F-A41F-3BAFC9CC9F8E}" type="slidenum">
              <a:rPr lang="en-US" smtClean="0"/>
              <a:pPr/>
              <a:t>5</a:t>
            </a:fld>
            <a:endParaRPr lang="en-US" dirty="0"/>
          </a:p>
        </p:txBody>
      </p:sp>
    </p:spTree>
    <p:extLst>
      <p:ext uri="{BB962C8B-B14F-4D97-AF65-F5344CB8AC3E}">
        <p14:creationId xmlns:p14="http://schemas.microsoft.com/office/powerpoint/2010/main" val="37064578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29B22-7D85-EC96-1244-FEB0AE1BF4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C3A6D2-6DC7-1B95-6689-A780DFF60018}"/>
              </a:ext>
            </a:extLst>
          </p:cNvPr>
          <p:cNvSpPr>
            <a:spLocks noGrp="1"/>
          </p:cNvSpPr>
          <p:nvPr>
            <p:ph type="title"/>
          </p:nvPr>
        </p:nvSpPr>
        <p:spPr>
          <a:xfrm>
            <a:off x="298174" y="354885"/>
            <a:ext cx="8521148" cy="553165"/>
          </a:xfrm>
        </p:spPr>
        <p:txBody>
          <a:bodyPr/>
          <a:lstStyle/>
          <a:p>
            <a:r>
              <a:rPr lang="en-CA" sz="2800" dirty="0"/>
              <a:t>Modeling - Classification</a:t>
            </a:r>
          </a:p>
        </p:txBody>
      </p:sp>
      <p:sp>
        <p:nvSpPr>
          <p:cNvPr id="3" name="Text Placeholder 2">
            <a:extLst>
              <a:ext uri="{FF2B5EF4-FFF2-40B4-BE49-F238E27FC236}">
                <a16:creationId xmlns:a16="http://schemas.microsoft.com/office/drawing/2014/main" id="{E611DC89-C5F4-8D15-7FE7-2E6F76045FCD}"/>
              </a:ext>
            </a:extLst>
          </p:cNvPr>
          <p:cNvSpPr>
            <a:spLocks noGrp="1"/>
          </p:cNvSpPr>
          <p:nvPr>
            <p:ph type="body" sz="quarter" idx="15"/>
          </p:nvPr>
        </p:nvSpPr>
        <p:spPr>
          <a:xfrm>
            <a:off x="241023" y="1113283"/>
            <a:ext cx="8521149" cy="5161621"/>
          </a:xfrm>
        </p:spPr>
        <p:txBody>
          <a:bodyPr>
            <a:noAutofit/>
          </a:bodyPr>
          <a:lstStyle/>
          <a:p>
            <a:pPr>
              <a:spcBef>
                <a:spcPts val="600"/>
              </a:spcBef>
            </a:pPr>
            <a:r>
              <a:rPr lang="en-CA" sz="1800" b="1" dirty="0"/>
              <a:t>Presenter</a:t>
            </a:r>
            <a:r>
              <a:rPr lang="en-CA" sz="1800" dirty="0"/>
              <a:t>: Hye Ran Yoo</a:t>
            </a:r>
          </a:p>
          <a:p>
            <a:pPr>
              <a:spcBef>
                <a:spcPts val="600"/>
              </a:spcBef>
            </a:pPr>
            <a:endParaRPr lang="en-CA" sz="1800" dirty="0"/>
          </a:p>
          <a:p>
            <a:pPr>
              <a:spcBef>
                <a:spcPts val="600"/>
              </a:spcBef>
            </a:pPr>
            <a:r>
              <a:rPr lang="en-CA" sz="1800" b="1" dirty="0"/>
              <a:t>Model Setup</a:t>
            </a:r>
          </a:p>
          <a:p>
            <a:pPr marL="0" indent="0">
              <a:spcBef>
                <a:spcPts val="600"/>
              </a:spcBef>
              <a:buNone/>
            </a:pPr>
            <a:r>
              <a:rPr lang="en-CA" sz="1800" dirty="0"/>
              <a:t>	- Algorithm: Decision Tree		 </a:t>
            </a:r>
          </a:p>
          <a:p>
            <a:pPr marL="0" indent="0">
              <a:spcBef>
                <a:spcPts val="600"/>
              </a:spcBef>
              <a:buNone/>
            </a:pPr>
            <a:r>
              <a:rPr lang="en-CA" sz="1800" dirty="0"/>
              <a:t>	- Target: Violation Type (3 classes - Citation, ESERO , Warning )</a:t>
            </a:r>
          </a:p>
          <a:p>
            <a:pPr marL="0" indent="0">
              <a:spcBef>
                <a:spcPts val="600"/>
              </a:spcBef>
              <a:buNone/>
            </a:pPr>
            <a:r>
              <a:rPr lang="en-CA" sz="1800" dirty="0"/>
              <a:t>	- Features: 23	</a:t>
            </a:r>
          </a:p>
          <a:p>
            <a:pPr marL="0" indent="0">
              <a:spcBef>
                <a:spcPts val="600"/>
              </a:spcBef>
              <a:buNone/>
            </a:pPr>
            <a:endParaRPr lang="en-CA" sz="1800" dirty="0"/>
          </a:p>
          <a:p>
            <a:pPr marL="0" indent="0">
              <a:spcBef>
                <a:spcPts val="600"/>
              </a:spcBef>
              <a:buNone/>
            </a:pPr>
            <a:endParaRPr lang="en-CA" sz="1800" dirty="0"/>
          </a:p>
          <a:p>
            <a:pPr marL="0" indent="0">
              <a:spcBef>
                <a:spcPts val="600"/>
              </a:spcBef>
              <a:buNone/>
            </a:pPr>
            <a:endParaRPr lang="en-CA" sz="1800" dirty="0"/>
          </a:p>
          <a:p>
            <a:pPr marL="0" indent="0">
              <a:spcBef>
                <a:spcPts val="600"/>
              </a:spcBef>
              <a:buNone/>
            </a:pPr>
            <a:endParaRPr lang="en-CA" sz="1800" dirty="0"/>
          </a:p>
          <a:p>
            <a:pPr marL="0" indent="0">
              <a:spcBef>
                <a:spcPts val="600"/>
              </a:spcBef>
              <a:buNone/>
            </a:pPr>
            <a:r>
              <a:rPr lang="en-CA" sz="1800" dirty="0"/>
              <a:t>				 </a:t>
            </a:r>
          </a:p>
          <a:p>
            <a:pPr marL="0" indent="0">
              <a:spcBef>
                <a:spcPts val="600"/>
              </a:spcBef>
              <a:buNone/>
            </a:pPr>
            <a:r>
              <a:rPr lang="en-CA" sz="1800" dirty="0"/>
              <a:t>	- Split: 70% train / 30% test</a:t>
            </a:r>
          </a:p>
          <a:p>
            <a:pPr marL="0" indent="0">
              <a:spcBef>
                <a:spcPts val="600"/>
              </a:spcBef>
              <a:buNone/>
            </a:pPr>
            <a:r>
              <a:rPr lang="en-CA" sz="1800" dirty="0"/>
              <a:t>	- Validation: 5-fold CV</a:t>
            </a:r>
          </a:p>
          <a:p>
            <a:pPr marL="0" indent="0">
              <a:buNone/>
            </a:pPr>
            <a:endParaRPr lang="en-CA" sz="1800" dirty="0"/>
          </a:p>
        </p:txBody>
      </p:sp>
      <p:sp>
        <p:nvSpPr>
          <p:cNvPr id="5" name="Slide Number Placeholder 4">
            <a:extLst>
              <a:ext uri="{FF2B5EF4-FFF2-40B4-BE49-F238E27FC236}">
                <a16:creationId xmlns:a16="http://schemas.microsoft.com/office/drawing/2014/main" id="{92BC34D9-EBBC-E97E-3CB9-754B1B3F35DE}"/>
              </a:ext>
            </a:extLst>
          </p:cNvPr>
          <p:cNvSpPr>
            <a:spLocks noGrp="1"/>
          </p:cNvSpPr>
          <p:nvPr>
            <p:ph type="sldNum" sz="quarter" idx="19"/>
          </p:nvPr>
        </p:nvSpPr>
        <p:spPr>
          <a:xfrm>
            <a:off x="111972" y="6373091"/>
            <a:ext cx="497627" cy="365126"/>
          </a:xfrm>
        </p:spPr>
        <p:txBody>
          <a:bodyPr/>
          <a:lstStyle/>
          <a:p>
            <a:fld id="{DEF3F5F5-7776-394F-A41F-3BAFC9CC9F8E}" type="slidenum">
              <a:rPr lang="en-US" smtClean="0"/>
              <a:pPr/>
              <a:t>6</a:t>
            </a:fld>
            <a:endParaRPr lang="en-US" dirty="0"/>
          </a:p>
        </p:txBody>
      </p:sp>
      <p:sp>
        <p:nvSpPr>
          <p:cNvPr id="16" name="TextBox 15">
            <a:extLst>
              <a:ext uri="{FF2B5EF4-FFF2-40B4-BE49-F238E27FC236}">
                <a16:creationId xmlns:a16="http://schemas.microsoft.com/office/drawing/2014/main" id="{A6DAB2CA-0F5F-0E21-61E8-E937D705A15D}"/>
              </a:ext>
            </a:extLst>
          </p:cNvPr>
          <p:cNvSpPr txBox="1"/>
          <p:nvPr/>
        </p:nvSpPr>
        <p:spPr>
          <a:xfrm>
            <a:off x="847309" y="3203967"/>
            <a:ext cx="7308575" cy="1754326"/>
          </a:xfrm>
          <a:prstGeom prst="rect">
            <a:avLst/>
          </a:prstGeom>
          <a:noFill/>
        </p:spPr>
        <p:txBody>
          <a:bodyPr wrap="square">
            <a:spAutoFit/>
          </a:bodyPr>
          <a:lstStyle/>
          <a:p>
            <a:r>
              <a:rPr lang="en-CA" sz="1200" dirty="0"/>
              <a:t>* Numeric Features (7)</a:t>
            </a:r>
          </a:p>
          <a:p>
            <a:r>
              <a:rPr lang="en-CA" sz="1200" dirty="0"/>
              <a:t>     Hour, Month , </a:t>
            </a:r>
            <a:r>
              <a:rPr lang="en-CA" sz="1200" dirty="0" err="1"/>
              <a:t>DayOfWeek</a:t>
            </a:r>
            <a:r>
              <a:rPr lang="en-CA" sz="1200" dirty="0"/>
              <a:t> , </a:t>
            </a:r>
            <a:r>
              <a:rPr lang="en-CA" sz="1200" dirty="0" err="1"/>
              <a:t>IsWeekend</a:t>
            </a:r>
            <a:r>
              <a:rPr lang="en-CA" sz="1200" dirty="0"/>
              <a:t> , Latitude , Longitude , </a:t>
            </a:r>
            <a:r>
              <a:rPr lang="en-CA" sz="1200" dirty="0" err="1"/>
              <a:t>VehicleAge</a:t>
            </a:r>
            <a:endParaRPr lang="en-CA" sz="1200" dirty="0"/>
          </a:p>
          <a:p>
            <a:endParaRPr lang="en-CA" sz="1200" dirty="0"/>
          </a:p>
          <a:p>
            <a:r>
              <a:rPr lang="en-CA" sz="1200" dirty="0"/>
              <a:t>* Boolean Features (11) : 0,1</a:t>
            </a:r>
          </a:p>
          <a:p>
            <a:r>
              <a:rPr lang="en-CA" sz="1200" dirty="0"/>
              <a:t>    Accident ,Personal Injury ,Property Damage ,Fatal ,Belts ,Alcohol ,Work Zone ,Commercial License ,Commercial   </a:t>
            </a:r>
          </a:p>
          <a:p>
            <a:r>
              <a:rPr lang="en-CA" sz="1200" dirty="0"/>
              <a:t>    Vehicle ,</a:t>
            </a:r>
            <a:r>
              <a:rPr lang="en-CA" sz="1200" dirty="0" err="1"/>
              <a:t>HAZMAT,Contributed</a:t>
            </a:r>
            <a:r>
              <a:rPr lang="en-CA" sz="1200" dirty="0"/>
              <a:t> To Accident</a:t>
            </a:r>
          </a:p>
          <a:p>
            <a:endParaRPr lang="en-CA" sz="1200" dirty="0"/>
          </a:p>
          <a:p>
            <a:r>
              <a:rPr lang="en-CA" sz="1200" dirty="0"/>
              <a:t>* Encoded Categorical Features (5) – label encoding</a:t>
            </a:r>
          </a:p>
          <a:p>
            <a:r>
              <a:rPr lang="en-CA" sz="1200" dirty="0"/>
              <a:t>    SubAgency_encoded,VehicleType_encoded,Gender_encoded,Race_encoded,TimeOfDay_encoded</a:t>
            </a:r>
          </a:p>
        </p:txBody>
      </p:sp>
    </p:spTree>
    <p:extLst>
      <p:ext uri="{BB962C8B-B14F-4D97-AF65-F5344CB8AC3E}">
        <p14:creationId xmlns:p14="http://schemas.microsoft.com/office/powerpoint/2010/main" val="22615732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C89C4-A967-4FA7-68B3-0FB7EB64A1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418018-0B02-95A4-9AED-DD3E6238FD82}"/>
              </a:ext>
            </a:extLst>
          </p:cNvPr>
          <p:cNvSpPr>
            <a:spLocks noGrp="1"/>
          </p:cNvSpPr>
          <p:nvPr>
            <p:ph type="title"/>
          </p:nvPr>
        </p:nvSpPr>
        <p:spPr>
          <a:xfrm>
            <a:off x="298174" y="354885"/>
            <a:ext cx="8521148" cy="553165"/>
          </a:xfrm>
        </p:spPr>
        <p:txBody>
          <a:bodyPr/>
          <a:lstStyle/>
          <a:p>
            <a:r>
              <a:rPr lang="en-CA" sz="2800" dirty="0"/>
              <a:t>Modeling - Classification</a:t>
            </a:r>
          </a:p>
        </p:txBody>
      </p:sp>
      <p:sp>
        <p:nvSpPr>
          <p:cNvPr id="3" name="Text Placeholder 2">
            <a:extLst>
              <a:ext uri="{FF2B5EF4-FFF2-40B4-BE49-F238E27FC236}">
                <a16:creationId xmlns:a16="http://schemas.microsoft.com/office/drawing/2014/main" id="{834C2C87-3BAD-8C0C-93B8-9E274CE31430}"/>
              </a:ext>
            </a:extLst>
          </p:cNvPr>
          <p:cNvSpPr>
            <a:spLocks noGrp="1"/>
          </p:cNvSpPr>
          <p:nvPr>
            <p:ph type="body" sz="quarter" idx="15"/>
          </p:nvPr>
        </p:nvSpPr>
        <p:spPr>
          <a:xfrm>
            <a:off x="360785" y="735415"/>
            <a:ext cx="8718364" cy="782235"/>
          </a:xfrm>
        </p:spPr>
        <p:txBody>
          <a:bodyPr>
            <a:noAutofit/>
          </a:bodyPr>
          <a:lstStyle/>
          <a:p>
            <a:pPr marL="0">
              <a:spcBef>
                <a:spcPts val="300"/>
              </a:spcBef>
            </a:pPr>
            <a:r>
              <a:rPr lang="en-CA" sz="1800" b="1" dirty="0"/>
              <a:t>Performance</a:t>
            </a:r>
          </a:p>
          <a:p>
            <a:pPr marL="0" indent="0">
              <a:spcBef>
                <a:spcPts val="300"/>
              </a:spcBef>
              <a:buNone/>
            </a:pPr>
            <a:r>
              <a:rPr lang="en-CA" sz="1800" dirty="0"/>
              <a:t>      - Train Accuracy: 63.87%	-Test Accuracy: </a:t>
            </a:r>
            <a:r>
              <a:rPr lang="en-CA" sz="1800" b="1" dirty="0"/>
              <a:t>63.85</a:t>
            </a:r>
            <a:r>
              <a:rPr lang="en-CA" sz="1800" dirty="0"/>
              <a:t>%	- CV Accuracy: 63.70% </a:t>
            </a:r>
            <a:r>
              <a:rPr lang="en-CA" sz="1200" dirty="0"/>
              <a:t>(±0.63%</a:t>
            </a:r>
            <a:r>
              <a:rPr lang="en-US" altLang="ko-KR" sz="1200" dirty="0"/>
              <a:t>)</a:t>
            </a:r>
          </a:p>
          <a:p>
            <a:pPr marL="0" indent="0">
              <a:spcBef>
                <a:spcPts val="300"/>
              </a:spcBef>
              <a:buNone/>
            </a:pPr>
            <a:r>
              <a:rPr lang="en-US" altLang="ko-KR" sz="1800" dirty="0"/>
              <a:t>        </a:t>
            </a:r>
          </a:p>
        </p:txBody>
      </p:sp>
      <p:sp>
        <p:nvSpPr>
          <p:cNvPr id="5" name="Slide Number Placeholder 4">
            <a:extLst>
              <a:ext uri="{FF2B5EF4-FFF2-40B4-BE49-F238E27FC236}">
                <a16:creationId xmlns:a16="http://schemas.microsoft.com/office/drawing/2014/main" id="{6A3279B4-592E-50F9-7D20-1C29B4DC3633}"/>
              </a:ext>
            </a:extLst>
          </p:cNvPr>
          <p:cNvSpPr>
            <a:spLocks noGrp="1"/>
          </p:cNvSpPr>
          <p:nvPr>
            <p:ph type="sldNum" sz="quarter" idx="19"/>
          </p:nvPr>
        </p:nvSpPr>
        <p:spPr>
          <a:xfrm>
            <a:off x="111972" y="6373091"/>
            <a:ext cx="497627" cy="365126"/>
          </a:xfrm>
        </p:spPr>
        <p:txBody>
          <a:bodyPr/>
          <a:lstStyle/>
          <a:p>
            <a:fld id="{DEF3F5F5-7776-394F-A41F-3BAFC9CC9F8E}" type="slidenum">
              <a:rPr lang="en-US" smtClean="0"/>
              <a:pPr/>
              <a:t>7</a:t>
            </a:fld>
            <a:endParaRPr lang="en-US" dirty="0"/>
          </a:p>
        </p:txBody>
      </p:sp>
      <p:pic>
        <p:nvPicPr>
          <p:cNvPr id="4" name="Picture 3" descr="A computer screen shot of text&#10;&#10;AI-generated content may be incorrect.">
            <a:extLst>
              <a:ext uri="{FF2B5EF4-FFF2-40B4-BE49-F238E27FC236}">
                <a16:creationId xmlns:a16="http://schemas.microsoft.com/office/drawing/2014/main" id="{DB50398B-8F4B-B163-B641-DFEADD74626A}"/>
              </a:ext>
            </a:extLst>
          </p:cNvPr>
          <p:cNvPicPr>
            <a:picLocks noChangeAspect="1"/>
          </p:cNvPicPr>
          <p:nvPr/>
        </p:nvPicPr>
        <p:blipFill>
          <a:blip r:embed="rId3"/>
          <a:stretch>
            <a:fillRect/>
          </a:stretch>
        </p:blipFill>
        <p:spPr>
          <a:xfrm>
            <a:off x="881266" y="1493762"/>
            <a:ext cx="4075043" cy="2806342"/>
          </a:xfrm>
          <a:prstGeom prst="rect">
            <a:avLst/>
          </a:prstGeom>
        </p:spPr>
      </p:pic>
      <p:pic>
        <p:nvPicPr>
          <p:cNvPr id="6" name="Picture 5">
            <a:extLst>
              <a:ext uri="{FF2B5EF4-FFF2-40B4-BE49-F238E27FC236}">
                <a16:creationId xmlns:a16="http://schemas.microsoft.com/office/drawing/2014/main" id="{1CF6798A-5253-CC84-8A0F-AB66BFD3B3BC}"/>
              </a:ext>
            </a:extLst>
          </p:cNvPr>
          <p:cNvPicPr>
            <a:picLocks noChangeAspect="1"/>
          </p:cNvPicPr>
          <p:nvPr/>
        </p:nvPicPr>
        <p:blipFill>
          <a:blip r:embed="rId4"/>
          <a:stretch>
            <a:fillRect/>
          </a:stretch>
        </p:blipFill>
        <p:spPr>
          <a:xfrm>
            <a:off x="881266" y="4336033"/>
            <a:ext cx="5944984" cy="684315"/>
          </a:xfrm>
          <a:prstGeom prst="rect">
            <a:avLst/>
          </a:prstGeom>
        </p:spPr>
      </p:pic>
      <p:pic>
        <p:nvPicPr>
          <p:cNvPr id="7" name="Picture 6" descr="A black screen with white text&#10;&#10;AI-generated content may be incorrect.">
            <a:extLst>
              <a:ext uri="{FF2B5EF4-FFF2-40B4-BE49-F238E27FC236}">
                <a16:creationId xmlns:a16="http://schemas.microsoft.com/office/drawing/2014/main" id="{186AF84A-EABD-7C95-3AAC-B623F76F0AC6}"/>
              </a:ext>
            </a:extLst>
          </p:cNvPr>
          <p:cNvPicPr>
            <a:picLocks noChangeAspect="1"/>
          </p:cNvPicPr>
          <p:nvPr/>
        </p:nvPicPr>
        <p:blipFill>
          <a:blip r:embed="rId5"/>
          <a:stretch>
            <a:fillRect/>
          </a:stretch>
        </p:blipFill>
        <p:spPr>
          <a:xfrm>
            <a:off x="881266" y="5149850"/>
            <a:ext cx="5944984" cy="1392892"/>
          </a:xfrm>
          <a:prstGeom prst="rect">
            <a:avLst/>
          </a:prstGeom>
        </p:spPr>
      </p:pic>
      <p:sp>
        <p:nvSpPr>
          <p:cNvPr id="8" name="Rectangle 7">
            <a:extLst>
              <a:ext uri="{FF2B5EF4-FFF2-40B4-BE49-F238E27FC236}">
                <a16:creationId xmlns:a16="http://schemas.microsoft.com/office/drawing/2014/main" id="{AAC086E2-9AB6-CD2C-99F8-5FFE63A8D4D8}"/>
              </a:ext>
            </a:extLst>
          </p:cNvPr>
          <p:cNvSpPr/>
          <p:nvPr/>
        </p:nvSpPr>
        <p:spPr>
          <a:xfrm>
            <a:off x="1378226" y="4020043"/>
            <a:ext cx="914400" cy="159026"/>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CA"/>
          </a:p>
        </p:txBody>
      </p:sp>
      <p:sp>
        <p:nvSpPr>
          <p:cNvPr id="9" name="Rectangle 8">
            <a:extLst>
              <a:ext uri="{FF2B5EF4-FFF2-40B4-BE49-F238E27FC236}">
                <a16:creationId xmlns:a16="http://schemas.microsoft.com/office/drawing/2014/main" id="{C77EAD82-2045-85E9-2181-CAAE5FCB4D20}"/>
              </a:ext>
            </a:extLst>
          </p:cNvPr>
          <p:cNvSpPr/>
          <p:nvPr/>
        </p:nvSpPr>
        <p:spPr>
          <a:xfrm>
            <a:off x="1378226" y="6293578"/>
            <a:ext cx="705958" cy="159026"/>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33444308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C61A8-5CAC-56D1-B7D3-674095BF77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8577D6-2439-F1C5-7C7D-E98F77FC747C}"/>
              </a:ext>
            </a:extLst>
          </p:cNvPr>
          <p:cNvSpPr>
            <a:spLocks noGrp="1"/>
          </p:cNvSpPr>
          <p:nvPr>
            <p:ph type="title"/>
          </p:nvPr>
        </p:nvSpPr>
        <p:spPr>
          <a:xfrm>
            <a:off x="298174" y="354885"/>
            <a:ext cx="8521148" cy="768822"/>
          </a:xfrm>
        </p:spPr>
        <p:txBody>
          <a:bodyPr/>
          <a:lstStyle/>
          <a:p>
            <a:r>
              <a:rPr lang="en-CA" sz="2800" dirty="0"/>
              <a:t>Modeling - Classification</a:t>
            </a:r>
            <a:r>
              <a:rPr lang="en-US" sz="2800" dirty="0"/>
              <a:t> </a:t>
            </a:r>
            <a:r>
              <a:rPr lang="en-US" sz="2800" dirty="0" err="1"/>
              <a:t>Con't</a:t>
            </a:r>
            <a:endParaRPr lang="en-CA" sz="2800" dirty="0"/>
          </a:p>
        </p:txBody>
      </p:sp>
      <p:sp>
        <p:nvSpPr>
          <p:cNvPr id="5" name="Slide Number Placeholder 4">
            <a:extLst>
              <a:ext uri="{FF2B5EF4-FFF2-40B4-BE49-F238E27FC236}">
                <a16:creationId xmlns:a16="http://schemas.microsoft.com/office/drawing/2014/main" id="{F0D3B8B2-1ADB-A3F1-D43B-86B6BA926ADF}"/>
              </a:ext>
            </a:extLst>
          </p:cNvPr>
          <p:cNvSpPr>
            <a:spLocks noGrp="1"/>
          </p:cNvSpPr>
          <p:nvPr>
            <p:ph type="sldNum" sz="quarter" idx="19"/>
          </p:nvPr>
        </p:nvSpPr>
        <p:spPr>
          <a:xfrm>
            <a:off x="111972" y="6373091"/>
            <a:ext cx="497627" cy="365126"/>
          </a:xfrm>
        </p:spPr>
        <p:txBody>
          <a:bodyPr/>
          <a:lstStyle/>
          <a:p>
            <a:fld id="{DEF3F5F5-7776-394F-A41F-3BAFC9CC9F8E}" type="slidenum">
              <a:rPr lang="en-US" smtClean="0"/>
              <a:pPr/>
              <a:t>8</a:t>
            </a:fld>
            <a:endParaRPr lang="en-US" dirty="0"/>
          </a:p>
        </p:txBody>
      </p:sp>
      <p:pic>
        <p:nvPicPr>
          <p:cNvPr id="10" name="Picture 9">
            <a:extLst>
              <a:ext uri="{FF2B5EF4-FFF2-40B4-BE49-F238E27FC236}">
                <a16:creationId xmlns:a16="http://schemas.microsoft.com/office/drawing/2014/main" id="{0E7C8EAE-BB67-A902-DD3E-70C01624A950}"/>
              </a:ext>
            </a:extLst>
          </p:cNvPr>
          <p:cNvPicPr>
            <a:picLocks noChangeAspect="1"/>
          </p:cNvPicPr>
          <p:nvPr/>
        </p:nvPicPr>
        <p:blipFill>
          <a:blip r:embed="rId3"/>
          <a:stretch>
            <a:fillRect/>
          </a:stretch>
        </p:blipFill>
        <p:spPr>
          <a:xfrm>
            <a:off x="0" y="1309999"/>
            <a:ext cx="9144000" cy="4876800"/>
          </a:xfrm>
          <a:prstGeom prst="rect">
            <a:avLst/>
          </a:prstGeom>
        </p:spPr>
      </p:pic>
      <p:pic>
        <p:nvPicPr>
          <p:cNvPr id="12" name="Picture 11">
            <a:extLst>
              <a:ext uri="{FF2B5EF4-FFF2-40B4-BE49-F238E27FC236}">
                <a16:creationId xmlns:a16="http://schemas.microsoft.com/office/drawing/2014/main" id="{34D00259-5C4F-91EF-9A98-2821CA44633D}"/>
              </a:ext>
            </a:extLst>
          </p:cNvPr>
          <p:cNvPicPr>
            <a:picLocks noChangeAspect="1"/>
          </p:cNvPicPr>
          <p:nvPr/>
        </p:nvPicPr>
        <p:blipFill>
          <a:blip r:embed="rId4"/>
          <a:stretch>
            <a:fillRect/>
          </a:stretch>
        </p:blipFill>
        <p:spPr>
          <a:xfrm>
            <a:off x="3435291" y="1501754"/>
            <a:ext cx="2273417" cy="806491"/>
          </a:xfrm>
          <a:prstGeom prst="rect">
            <a:avLst/>
          </a:prstGeom>
        </p:spPr>
      </p:pic>
      <p:sp>
        <p:nvSpPr>
          <p:cNvPr id="3" name="Rectangle 2">
            <a:extLst>
              <a:ext uri="{FF2B5EF4-FFF2-40B4-BE49-F238E27FC236}">
                <a16:creationId xmlns:a16="http://schemas.microsoft.com/office/drawing/2014/main" id="{986BBD3D-6D8F-42E0-7E00-102950E5B753}"/>
              </a:ext>
            </a:extLst>
          </p:cNvPr>
          <p:cNvSpPr/>
          <p:nvPr/>
        </p:nvSpPr>
        <p:spPr>
          <a:xfrm>
            <a:off x="3712633" y="1587499"/>
            <a:ext cx="1350434" cy="160866"/>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CA"/>
          </a:p>
        </p:txBody>
      </p:sp>
      <p:sp>
        <p:nvSpPr>
          <p:cNvPr id="6" name="TextBox 5">
            <a:extLst>
              <a:ext uri="{FF2B5EF4-FFF2-40B4-BE49-F238E27FC236}">
                <a16:creationId xmlns:a16="http://schemas.microsoft.com/office/drawing/2014/main" id="{1B43F92F-D036-9431-E252-C24D99AF7D27}"/>
              </a:ext>
            </a:extLst>
          </p:cNvPr>
          <p:cNvSpPr txBox="1"/>
          <p:nvPr/>
        </p:nvSpPr>
        <p:spPr>
          <a:xfrm>
            <a:off x="2094691" y="2468033"/>
            <a:ext cx="548548" cy="307777"/>
          </a:xfrm>
          <a:prstGeom prst="rect">
            <a:avLst/>
          </a:prstGeom>
          <a:noFill/>
        </p:spPr>
        <p:txBody>
          <a:bodyPr wrap="none" rtlCol="0">
            <a:spAutoFit/>
          </a:bodyPr>
          <a:lstStyle/>
          <a:p>
            <a:r>
              <a:rPr lang="en-CA" sz="1400" dirty="0"/>
              <a:t>Hour</a:t>
            </a:r>
          </a:p>
        </p:txBody>
      </p:sp>
      <p:sp>
        <p:nvSpPr>
          <p:cNvPr id="7" name="TextBox 6">
            <a:extLst>
              <a:ext uri="{FF2B5EF4-FFF2-40B4-BE49-F238E27FC236}">
                <a16:creationId xmlns:a16="http://schemas.microsoft.com/office/drawing/2014/main" id="{45BDEB9A-134F-D586-A118-962F2A56EC4D}"/>
              </a:ext>
            </a:extLst>
          </p:cNvPr>
          <p:cNvSpPr txBox="1"/>
          <p:nvPr/>
        </p:nvSpPr>
        <p:spPr>
          <a:xfrm>
            <a:off x="6412435" y="2468033"/>
            <a:ext cx="1273747" cy="307777"/>
          </a:xfrm>
          <a:prstGeom prst="rect">
            <a:avLst/>
          </a:prstGeom>
          <a:noFill/>
        </p:spPr>
        <p:txBody>
          <a:bodyPr wrap="none" rtlCol="0">
            <a:spAutoFit/>
          </a:bodyPr>
          <a:lstStyle/>
          <a:p>
            <a:r>
              <a:rPr lang="en-CA" sz="1400" dirty="0"/>
              <a:t>Personal Injury</a:t>
            </a:r>
          </a:p>
        </p:txBody>
      </p:sp>
      <p:sp>
        <p:nvSpPr>
          <p:cNvPr id="8" name="TextBox 7">
            <a:extLst>
              <a:ext uri="{FF2B5EF4-FFF2-40B4-BE49-F238E27FC236}">
                <a16:creationId xmlns:a16="http://schemas.microsoft.com/office/drawing/2014/main" id="{19284A1B-8C54-881A-AD3A-680712F08415}"/>
              </a:ext>
            </a:extLst>
          </p:cNvPr>
          <p:cNvSpPr txBox="1"/>
          <p:nvPr/>
        </p:nvSpPr>
        <p:spPr>
          <a:xfrm>
            <a:off x="609599" y="3506801"/>
            <a:ext cx="988604" cy="307777"/>
          </a:xfrm>
          <a:prstGeom prst="rect">
            <a:avLst/>
          </a:prstGeom>
          <a:noFill/>
        </p:spPr>
        <p:txBody>
          <a:bodyPr wrap="none" rtlCol="0">
            <a:spAutoFit/>
          </a:bodyPr>
          <a:lstStyle/>
          <a:p>
            <a:r>
              <a:rPr lang="en-CA" sz="1400" dirty="0" err="1"/>
              <a:t>VehicleAge</a:t>
            </a:r>
            <a:endParaRPr lang="en-CA" sz="1400" dirty="0"/>
          </a:p>
        </p:txBody>
      </p:sp>
      <p:sp>
        <p:nvSpPr>
          <p:cNvPr id="9" name="TextBox 8">
            <a:extLst>
              <a:ext uri="{FF2B5EF4-FFF2-40B4-BE49-F238E27FC236}">
                <a16:creationId xmlns:a16="http://schemas.microsoft.com/office/drawing/2014/main" id="{9F065E8E-08D8-6187-45E4-11A71791EBC9}"/>
              </a:ext>
            </a:extLst>
          </p:cNvPr>
          <p:cNvSpPr txBox="1"/>
          <p:nvPr/>
        </p:nvSpPr>
        <p:spPr>
          <a:xfrm>
            <a:off x="3164357" y="3476023"/>
            <a:ext cx="1461106" cy="307777"/>
          </a:xfrm>
          <a:prstGeom prst="rect">
            <a:avLst/>
          </a:prstGeom>
          <a:noFill/>
        </p:spPr>
        <p:txBody>
          <a:bodyPr wrap="none" rtlCol="0">
            <a:spAutoFit/>
          </a:bodyPr>
          <a:lstStyle/>
          <a:p>
            <a:r>
              <a:rPr lang="en-CA" sz="1400" dirty="0"/>
              <a:t>Property Damage</a:t>
            </a:r>
          </a:p>
        </p:txBody>
      </p:sp>
      <p:sp>
        <p:nvSpPr>
          <p:cNvPr id="11" name="TextBox 10">
            <a:extLst>
              <a:ext uri="{FF2B5EF4-FFF2-40B4-BE49-F238E27FC236}">
                <a16:creationId xmlns:a16="http://schemas.microsoft.com/office/drawing/2014/main" id="{59DC0722-BA11-EA2E-6248-C1E21B415833}"/>
              </a:ext>
            </a:extLst>
          </p:cNvPr>
          <p:cNvSpPr txBox="1"/>
          <p:nvPr/>
        </p:nvSpPr>
        <p:spPr>
          <a:xfrm>
            <a:off x="5063067" y="3506800"/>
            <a:ext cx="1461106" cy="307777"/>
          </a:xfrm>
          <a:prstGeom prst="rect">
            <a:avLst/>
          </a:prstGeom>
          <a:noFill/>
        </p:spPr>
        <p:txBody>
          <a:bodyPr wrap="none" rtlCol="0">
            <a:spAutoFit/>
          </a:bodyPr>
          <a:lstStyle/>
          <a:p>
            <a:r>
              <a:rPr lang="en-CA" sz="1400" dirty="0"/>
              <a:t>Property Damage</a:t>
            </a:r>
          </a:p>
        </p:txBody>
      </p:sp>
      <p:sp>
        <p:nvSpPr>
          <p:cNvPr id="13" name="TextBox 12">
            <a:extLst>
              <a:ext uri="{FF2B5EF4-FFF2-40B4-BE49-F238E27FC236}">
                <a16:creationId xmlns:a16="http://schemas.microsoft.com/office/drawing/2014/main" id="{1FFF8D9E-72A2-84FC-E176-137F49DFE3CC}"/>
              </a:ext>
            </a:extLst>
          </p:cNvPr>
          <p:cNvSpPr txBox="1"/>
          <p:nvPr/>
        </p:nvSpPr>
        <p:spPr>
          <a:xfrm>
            <a:off x="863599" y="5363335"/>
            <a:ext cx="1991443" cy="369332"/>
          </a:xfrm>
          <a:prstGeom prst="rect">
            <a:avLst/>
          </a:prstGeom>
          <a:noFill/>
        </p:spPr>
        <p:txBody>
          <a:bodyPr wrap="none" rtlCol="0">
            <a:spAutoFit/>
          </a:bodyPr>
          <a:lstStyle/>
          <a:p>
            <a:r>
              <a:rPr lang="en-CA" dirty="0">
                <a:solidFill>
                  <a:srgbClr val="7030A0"/>
                </a:solidFill>
              </a:rPr>
              <a:t>Warning prediction</a:t>
            </a:r>
          </a:p>
        </p:txBody>
      </p:sp>
      <p:sp>
        <p:nvSpPr>
          <p:cNvPr id="14" name="TextBox 13">
            <a:extLst>
              <a:ext uri="{FF2B5EF4-FFF2-40B4-BE49-F238E27FC236}">
                <a16:creationId xmlns:a16="http://schemas.microsoft.com/office/drawing/2014/main" id="{61144F4D-63BD-8759-1EC9-D341B5EA277D}"/>
              </a:ext>
            </a:extLst>
          </p:cNvPr>
          <p:cNvSpPr txBox="1"/>
          <p:nvPr/>
        </p:nvSpPr>
        <p:spPr>
          <a:xfrm>
            <a:off x="5447235" y="5363335"/>
            <a:ext cx="1930400" cy="369332"/>
          </a:xfrm>
          <a:prstGeom prst="rect">
            <a:avLst/>
          </a:prstGeom>
          <a:noFill/>
        </p:spPr>
        <p:txBody>
          <a:bodyPr wrap="none" rtlCol="0">
            <a:spAutoFit/>
          </a:bodyPr>
          <a:lstStyle/>
          <a:p>
            <a:r>
              <a:rPr lang="en-CA" dirty="0">
                <a:solidFill>
                  <a:schemeClr val="accent6">
                    <a:lumMod val="75000"/>
                  </a:schemeClr>
                </a:solidFill>
              </a:rPr>
              <a:t>Citation prediction</a:t>
            </a:r>
          </a:p>
        </p:txBody>
      </p:sp>
      <p:sp>
        <p:nvSpPr>
          <p:cNvPr id="15" name="TextBox 14">
            <a:extLst>
              <a:ext uri="{FF2B5EF4-FFF2-40B4-BE49-F238E27FC236}">
                <a16:creationId xmlns:a16="http://schemas.microsoft.com/office/drawing/2014/main" id="{E0F2DA95-FFD0-F2A0-DEF1-57AE5F76A918}"/>
              </a:ext>
            </a:extLst>
          </p:cNvPr>
          <p:cNvSpPr txBox="1"/>
          <p:nvPr/>
        </p:nvSpPr>
        <p:spPr>
          <a:xfrm>
            <a:off x="7603399" y="3476022"/>
            <a:ext cx="973856" cy="307777"/>
          </a:xfrm>
          <a:prstGeom prst="rect">
            <a:avLst/>
          </a:prstGeom>
          <a:noFill/>
        </p:spPr>
        <p:txBody>
          <a:bodyPr wrap="none" rtlCol="0">
            <a:spAutoFit/>
          </a:bodyPr>
          <a:lstStyle/>
          <a:p>
            <a:r>
              <a:rPr lang="en-CA" sz="1400" dirty="0" err="1"/>
              <a:t>Longtitude</a:t>
            </a:r>
            <a:endParaRPr lang="en-CA" sz="1400" dirty="0"/>
          </a:p>
        </p:txBody>
      </p:sp>
    </p:spTree>
    <p:extLst>
      <p:ext uri="{BB962C8B-B14F-4D97-AF65-F5344CB8AC3E}">
        <p14:creationId xmlns:p14="http://schemas.microsoft.com/office/powerpoint/2010/main" val="35074267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E533A-3057-3730-E564-856FFE8C68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0864A8-9710-BE6B-0CFC-0496E91076A9}"/>
              </a:ext>
            </a:extLst>
          </p:cNvPr>
          <p:cNvSpPr>
            <a:spLocks noGrp="1"/>
          </p:cNvSpPr>
          <p:nvPr>
            <p:ph type="title"/>
          </p:nvPr>
        </p:nvSpPr>
        <p:spPr>
          <a:xfrm>
            <a:off x="298174" y="354885"/>
            <a:ext cx="8521148" cy="768822"/>
          </a:xfrm>
        </p:spPr>
        <p:txBody>
          <a:bodyPr/>
          <a:lstStyle/>
          <a:p>
            <a:r>
              <a:rPr lang="en-CA" sz="2800" dirty="0"/>
              <a:t>Results – Classification</a:t>
            </a:r>
          </a:p>
        </p:txBody>
      </p:sp>
      <p:sp>
        <p:nvSpPr>
          <p:cNvPr id="5" name="Slide Number Placeholder 4">
            <a:extLst>
              <a:ext uri="{FF2B5EF4-FFF2-40B4-BE49-F238E27FC236}">
                <a16:creationId xmlns:a16="http://schemas.microsoft.com/office/drawing/2014/main" id="{BAC7660A-A9CC-52A8-1DCE-9807F6620001}"/>
              </a:ext>
            </a:extLst>
          </p:cNvPr>
          <p:cNvSpPr>
            <a:spLocks noGrp="1"/>
          </p:cNvSpPr>
          <p:nvPr>
            <p:ph type="sldNum" sz="quarter" idx="19"/>
          </p:nvPr>
        </p:nvSpPr>
        <p:spPr>
          <a:xfrm>
            <a:off x="111972" y="6373091"/>
            <a:ext cx="421427" cy="365126"/>
          </a:xfrm>
        </p:spPr>
        <p:txBody>
          <a:bodyPr/>
          <a:lstStyle/>
          <a:p>
            <a:fld id="{DEF3F5F5-7776-394F-A41F-3BAFC9CC9F8E}" type="slidenum">
              <a:rPr lang="en-US" smtClean="0"/>
              <a:pPr/>
              <a:t>9</a:t>
            </a:fld>
            <a:endParaRPr lang="en-US" dirty="0"/>
          </a:p>
        </p:txBody>
      </p:sp>
      <p:pic>
        <p:nvPicPr>
          <p:cNvPr id="6" name="Picture 5">
            <a:extLst>
              <a:ext uri="{FF2B5EF4-FFF2-40B4-BE49-F238E27FC236}">
                <a16:creationId xmlns:a16="http://schemas.microsoft.com/office/drawing/2014/main" id="{A339895D-1737-4966-DC39-683CC388A9C6}"/>
              </a:ext>
            </a:extLst>
          </p:cNvPr>
          <p:cNvPicPr>
            <a:picLocks noChangeAspect="1"/>
          </p:cNvPicPr>
          <p:nvPr/>
        </p:nvPicPr>
        <p:blipFill>
          <a:blip r:embed="rId3"/>
          <a:stretch>
            <a:fillRect/>
          </a:stretch>
        </p:blipFill>
        <p:spPr>
          <a:xfrm>
            <a:off x="0" y="978425"/>
            <a:ext cx="5272246" cy="3991140"/>
          </a:xfrm>
          <a:prstGeom prst="rect">
            <a:avLst/>
          </a:prstGeom>
        </p:spPr>
      </p:pic>
      <p:pic>
        <p:nvPicPr>
          <p:cNvPr id="8" name="Picture 7">
            <a:extLst>
              <a:ext uri="{FF2B5EF4-FFF2-40B4-BE49-F238E27FC236}">
                <a16:creationId xmlns:a16="http://schemas.microsoft.com/office/drawing/2014/main" id="{DA3ADAB1-AD2E-2624-E627-51527E8B32DB}"/>
              </a:ext>
            </a:extLst>
          </p:cNvPr>
          <p:cNvPicPr>
            <a:picLocks noChangeAspect="1"/>
          </p:cNvPicPr>
          <p:nvPr/>
        </p:nvPicPr>
        <p:blipFill>
          <a:blip r:embed="rId4"/>
          <a:stretch>
            <a:fillRect/>
          </a:stretch>
        </p:blipFill>
        <p:spPr>
          <a:xfrm>
            <a:off x="5115293" y="1123707"/>
            <a:ext cx="4028707" cy="3115201"/>
          </a:xfrm>
          <a:prstGeom prst="rect">
            <a:avLst/>
          </a:prstGeom>
        </p:spPr>
      </p:pic>
      <p:sp>
        <p:nvSpPr>
          <p:cNvPr id="4" name="TextBox 3">
            <a:extLst>
              <a:ext uri="{FF2B5EF4-FFF2-40B4-BE49-F238E27FC236}">
                <a16:creationId xmlns:a16="http://schemas.microsoft.com/office/drawing/2014/main" id="{28C4B5CA-6520-6513-43DB-467351E51C75}"/>
              </a:ext>
            </a:extLst>
          </p:cNvPr>
          <p:cNvSpPr txBox="1"/>
          <p:nvPr/>
        </p:nvSpPr>
        <p:spPr>
          <a:xfrm>
            <a:off x="5115293" y="4506391"/>
            <a:ext cx="4399722" cy="307777"/>
          </a:xfrm>
          <a:prstGeom prst="rect">
            <a:avLst/>
          </a:prstGeom>
          <a:noFill/>
        </p:spPr>
        <p:txBody>
          <a:bodyPr wrap="square">
            <a:spAutoFit/>
          </a:bodyPr>
          <a:lstStyle/>
          <a:p>
            <a:pPr>
              <a:spcBef>
                <a:spcPts val="150"/>
              </a:spcBef>
              <a:spcAft>
                <a:spcPts val="150"/>
              </a:spcAft>
            </a:pPr>
            <a:r>
              <a:rPr lang="en-CA" sz="1400" b="1" i="0" dirty="0">
                <a:effectLst/>
                <a:latin typeface="Segoe WPC"/>
              </a:rPr>
              <a:t>Total Test Samples</a:t>
            </a:r>
            <a:r>
              <a:rPr lang="en-CA" sz="1400" b="0" i="0" dirty="0">
                <a:effectLst/>
                <a:latin typeface="Segoe WPC"/>
              </a:rPr>
              <a:t>: 350,895</a:t>
            </a:r>
            <a:r>
              <a:rPr lang="en-CA" sz="1400" dirty="0">
                <a:latin typeface="Segoe WPC"/>
              </a:rPr>
              <a:t> (Based on test set)</a:t>
            </a:r>
            <a:endParaRPr lang="ko-KR" altLang="en-US" sz="1400" b="0" i="0" dirty="0">
              <a:effectLst/>
              <a:latin typeface="Segoe WPC"/>
            </a:endParaRPr>
          </a:p>
        </p:txBody>
      </p:sp>
      <p:sp>
        <p:nvSpPr>
          <p:cNvPr id="3" name="Text Placeholder 2">
            <a:extLst>
              <a:ext uri="{FF2B5EF4-FFF2-40B4-BE49-F238E27FC236}">
                <a16:creationId xmlns:a16="http://schemas.microsoft.com/office/drawing/2014/main" id="{D9A94774-0CD9-D206-D257-239095F7E123}"/>
              </a:ext>
            </a:extLst>
          </p:cNvPr>
          <p:cNvSpPr>
            <a:spLocks noGrp="1"/>
          </p:cNvSpPr>
          <p:nvPr>
            <p:ph type="body" sz="quarter" idx="15"/>
          </p:nvPr>
        </p:nvSpPr>
        <p:spPr>
          <a:xfrm>
            <a:off x="298174" y="5133696"/>
            <a:ext cx="8718364" cy="1083998"/>
          </a:xfrm>
        </p:spPr>
        <p:txBody>
          <a:bodyPr>
            <a:noAutofit/>
          </a:bodyPr>
          <a:lstStyle/>
          <a:p>
            <a:pPr marL="0">
              <a:spcBef>
                <a:spcPts val="300"/>
              </a:spcBef>
            </a:pPr>
            <a:r>
              <a:rPr lang="en-CA" sz="1800" b="1" dirty="0"/>
              <a:t>Performance</a:t>
            </a:r>
          </a:p>
          <a:p>
            <a:pPr marL="0" indent="0">
              <a:spcBef>
                <a:spcPts val="300"/>
              </a:spcBef>
              <a:buNone/>
            </a:pPr>
            <a:r>
              <a:rPr lang="en-CA" sz="1800" dirty="0"/>
              <a:t>      - Train Accuracy: 63.87%	-Test Accuracy: </a:t>
            </a:r>
            <a:r>
              <a:rPr lang="en-CA" sz="1800" b="1" dirty="0"/>
              <a:t>63.85</a:t>
            </a:r>
            <a:r>
              <a:rPr lang="en-CA" sz="1800" dirty="0"/>
              <a:t>%	- CV Accuracy: 63.70% </a:t>
            </a:r>
            <a:r>
              <a:rPr lang="en-CA" sz="1200" dirty="0"/>
              <a:t>(±0.63%</a:t>
            </a:r>
            <a:r>
              <a:rPr lang="en-US" altLang="ko-KR" sz="1200" dirty="0"/>
              <a:t>)</a:t>
            </a:r>
          </a:p>
          <a:p>
            <a:pPr marL="0" indent="0">
              <a:spcBef>
                <a:spcPts val="300"/>
              </a:spcBef>
              <a:buNone/>
            </a:pPr>
            <a:r>
              <a:rPr lang="en-US" altLang="ko-KR" sz="1800" dirty="0"/>
              <a:t>        </a:t>
            </a:r>
            <a:r>
              <a:rPr lang="en-US" altLang="ko-KR" sz="1800" dirty="0">
                <a:solidFill>
                  <a:srgbClr val="0070C0"/>
                </a:solidFill>
              </a:rPr>
              <a:t>No overfitting</a:t>
            </a:r>
            <a:r>
              <a:rPr lang="en-US" altLang="ko-KR" sz="1800" dirty="0"/>
              <a:t>, </a:t>
            </a:r>
            <a:r>
              <a:rPr lang="en-US" altLang="ko-KR" sz="1800" dirty="0">
                <a:solidFill>
                  <a:srgbClr val="0070C0"/>
                </a:solidFill>
              </a:rPr>
              <a:t>stable generalization</a:t>
            </a:r>
            <a:r>
              <a:rPr lang="en-US" altLang="ko-KR" sz="1800" dirty="0"/>
              <a:t>, 6.15% below 70</a:t>
            </a:r>
            <a:r>
              <a:rPr lang="en-US" altLang="ko-KR" sz="1400" dirty="0"/>
              <a:t>%</a:t>
            </a:r>
            <a:r>
              <a:rPr lang="en-US" altLang="ko-KR" sz="1800" dirty="0"/>
              <a:t> target accuracy</a:t>
            </a:r>
          </a:p>
        </p:txBody>
      </p:sp>
    </p:spTree>
    <p:extLst>
      <p:ext uri="{BB962C8B-B14F-4D97-AF65-F5344CB8AC3E}">
        <p14:creationId xmlns:p14="http://schemas.microsoft.com/office/powerpoint/2010/main" val="3641497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4D729-EB36-1541-6B67-5D6DB6BD92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7251D2-C707-5DC6-9060-390232CC9CB1}"/>
              </a:ext>
            </a:extLst>
          </p:cNvPr>
          <p:cNvSpPr>
            <a:spLocks noGrp="1"/>
          </p:cNvSpPr>
          <p:nvPr>
            <p:ph type="title"/>
          </p:nvPr>
        </p:nvSpPr>
        <p:spPr>
          <a:xfrm>
            <a:off x="298174" y="354885"/>
            <a:ext cx="8521148" cy="768822"/>
          </a:xfrm>
        </p:spPr>
        <p:txBody>
          <a:bodyPr/>
          <a:lstStyle/>
          <a:p>
            <a:r>
              <a:rPr lang="en-CA" sz="2800" dirty="0"/>
              <a:t>Modeling - Clustering</a:t>
            </a:r>
          </a:p>
        </p:txBody>
      </p:sp>
      <p:sp>
        <p:nvSpPr>
          <p:cNvPr id="3" name="Text Placeholder 2">
            <a:extLst>
              <a:ext uri="{FF2B5EF4-FFF2-40B4-BE49-F238E27FC236}">
                <a16:creationId xmlns:a16="http://schemas.microsoft.com/office/drawing/2014/main" id="{857A7FF6-AAFC-3004-620C-F0D64C293342}"/>
              </a:ext>
            </a:extLst>
          </p:cNvPr>
          <p:cNvSpPr>
            <a:spLocks noGrp="1"/>
          </p:cNvSpPr>
          <p:nvPr>
            <p:ph type="body" sz="quarter" idx="15"/>
          </p:nvPr>
        </p:nvSpPr>
        <p:spPr>
          <a:xfrm>
            <a:off x="274320" y="1115391"/>
            <a:ext cx="8521149" cy="4605130"/>
          </a:xfrm>
        </p:spPr>
        <p:txBody>
          <a:bodyPr>
            <a:normAutofit/>
          </a:bodyPr>
          <a:lstStyle/>
          <a:p>
            <a:r>
              <a:rPr lang="en-CA" sz="2000" b="1" dirty="0"/>
              <a:t>Presenter</a:t>
            </a:r>
            <a:r>
              <a:rPr lang="en-CA" sz="2000" dirty="0"/>
              <a:t>: Joseph Weng</a:t>
            </a:r>
          </a:p>
          <a:p>
            <a:pPr marL="0" indent="0">
              <a:buNone/>
            </a:pPr>
            <a:endParaRPr lang="en-CA" sz="2000" dirty="0"/>
          </a:p>
          <a:p>
            <a:r>
              <a:rPr lang="en-CA" sz="2000" b="1" dirty="0"/>
              <a:t>Model Setup</a:t>
            </a:r>
          </a:p>
          <a:p>
            <a:pPr marL="0" indent="0">
              <a:buNone/>
            </a:pPr>
            <a:r>
              <a:rPr lang="en-CA" sz="2000" dirty="0"/>
              <a:t>	- Algorithm: K-Means</a:t>
            </a:r>
          </a:p>
          <a:p>
            <a:pPr marL="0" indent="0">
              <a:buNone/>
            </a:pPr>
            <a:r>
              <a:rPr lang="en-CA" sz="2000" dirty="0"/>
              <a:t>	 - Features: 19 (temporal, geographic, vehicle)</a:t>
            </a:r>
          </a:p>
          <a:p>
            <a:pPr marL="0" indent="0">
              <a:buNone/>
            </a:pPr>
            <a:r>
              <a:rPr lang="en-CA" sz="2000" dirty="0"/>
              <a:t>	 - k Selection: Elbow, Silhouette, Davies-Bouldin</a:t>
            </a:r>
          </a:p>
          <a:p>
            <a:pPr marL="0" indent="0">
              <a:buNone/>
            </a:pPr>
            <a:endParaRPr lang="en-CA" sz="2000" dirty="0"/>
          </a:p>
          <a:p>
            <a:r>
              <a:rPr lang="en-CA" sz="2000" b="1" dirty="0"/>
              <a:t>Results</a:t>
            </a:r>
          </a:p>
          <a:p>
            <a:pPr marL="0" indent="0">
              <a:buNone/>
            </a:pPr>
            <a:r>
              <a:rPr lang="en-CA" sz="2000" dirty="0"/>
              <a:t>	 - Optimal k: 4 clusters</a:t>
            </a:r>
          </a:p>
          <a:p>
            <a:pPr marL="0" indent="0">
              <a:buNone/>
            </a:pPr>
            <a:r>
              <a:rPr lang="en-CA" sz="2000" dirty="0"/>
              <a:t>	 - Silhouette Score: 0.212</a:t>
            </a:r>
          </a:p>
          <a:p>
            <a:pPr marL="0" indent="0">
              <a:buNone/>
            </a:pPr>
            <a:r>
              <a:rPr lang="en-CA" sz="2000" dirty="0"/>
              <a:t>	 - Outliers: 100 (1.00%)</a:t>
            </a:r>
          </a:p>
          <a:p>
            <a:endParaRPr lang="en-CA" sz="2000" dirty="0"/>
          </a:p>
        </p:txBody>
      </p:sp>
      <p:sp>
        <p:nvSpPr>
          <p:cNvPr id="5" name="Slide Number Placeholder 4">
            <a:extLst>
              <a:ext uri="{FF2B5EF4-FFF2-40B4-BE49-F238E27FC236}">
                <a16:creationId xmlns:a16="http://schemas.microsoft.com/office/drawing/2014/main" id="{9297CFD0-B109-779B-677E-03396665E208}"/>
              </a:ext>
            </a:extLst>
          </p:cNvPr>
          <p:cNvSpPr>
            <a:spLocks noGrp="1"/>
          </p:cNvSpPr>
          <p:nvPr>
            <p:ph type="sldNum" sz="quarter" idx="19"/>
          </p:nvPr>
        </p:nvSpPr>
        <p:spPr>
          <a:xfrm>
            <a:off x="111972" y="6373091"/>
            <a:ext cx="434127" cy="365126"/>
          </a:xfrm>
        </p:spPr>
        <p:txBody>
          <a:bodyPr/>
          <a:lstStyle/>
          <a:p>
            <a:fld id="{DEF3F5F5-7776-394F-A41F-3BAFC9CC9F8E}" type="slidenum">
              <a:rPr lang="en-US" smtClean="0"/>
              <a:pPr/>
              <a:t>10</a:t>
            </a:fld>
            <a:endParaRPr lang="en-US" dirty="0"/>
          </a:p>
        </p:txBody>
      </p:sp>
    </p:spTree>
    <p:extLst>
      <p:ext uri="{BB962C8B-B14F-4D97-AF65-F5344CB8AC3E}">
        <p14:creationId xmlns:p14="http://schemas.microsoft.com/office/powerpoint/2010/main" val="1254762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631B8-4439-7C75-14C8-176C8DC27E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A7E434-5229-391A-52DF-2FE515EA1A55}"/>
              </a:ext>
            </a:extLst>
          </p:cNvPr>
          <p:cNvSpPr>
            <a:spLocks noGrp="1"/>
          </p:cNvSpPr>
          <p:nvPr>
            <p:ph type="title"/>
          </p:nvPr>
        </p:nvSpPr>
        <p:spPr>
          <a:xfrm>
            <a:off x="298174" y="354885"/>
            <a:ext cx="8521148" cy="768822"/>
          </a:xfrm>
        </p:spPr>
        <p:txBody>
          <a:bodyPr/>
          <a:lstStyle/>
          <a:p>
            <a:r>
              <a:rPr lang="en-CA" sz="2800" dirty="0"/>
              <a:t>Modeling - Clustering</a:t>
            </a:r>
            <a:r>
              <a:rPr lang="en-US" sz="2800" dirty="0"/>
              <a:t> </a:t>
            </a:r>
            <a:r>
              <a:rPr lang="en-US" sz="2800" dirty="0" err="1"/>
              <a:t>Con't</a:t>
            </a:r>
            <a:endParaRPr lang="en-CA" sz="2800" dirty="0"/>
          </a:p>
        </p:txBody>
      </p:sp>
      <p:sp>
        <p:nvSpPr>
          <p:cNvPr id="5" name="Slide Number Placeholder 4">
            <a:extLst>
              <a:ext uri="{FF2B5EF4-FFF2-40B4-BE49-F238E27FC236}">
                <a16:creationId xmlns:a16="http://schemas.microsoft.com/office/drawing/2014/main" id="{92E2CEB1-D24C-8704-A06D-D8A6B170DEDB}"/>
              </a:ext>
            </a:extLst>
          </p:cNvPr>
          <p:cNvSpPr>
            <a:spLocks noGrp="1"/>
          </p:cNvSpPr>
          <p:nvPr>
            <p:ph type="sldNum" sz="quarter" idx="19"/>
          </p:nvPr>
        </p:nvSpPr>
        <p:spPr>
          <a:xfrm>
            <a:off x="111972" y="6373091"/>
            <a:ext cx="434127" cy="365126"/>
          </a:xfrm>
        </p:spPr>
        <p:txBody>
          <a:bodyPr/>
          <a:lstStyle/>
          <a:p>
            <a:fld id="{DEF3F5F5-7776-394F-A41F-3BAFC9CC9F8E}" type="slidenum">
              <a:rPr lang="en-US" smtClean="0"/>
              <a:pPr/>
              <a:t>11</a:t>
            </a:fld>
            <a:endParaRPr lang="en-US" dirty="0"/>
          </a:p>
        </p:txBody>
      </p:sp>
      <p:pic>
        <p:nvPicPr>
          <p:cNvPr id="4" name="Picture 3" descr="figure_22.png">
            <a:extLst>
              <a:ext uri="{FF2B5EF4-FFF2-40B4-BE49-F238E27FC236}">
                <a16:creationId xmlns:a16="http://schemas.microsoft.com/office/drawing/2014/main" id="{DF75E221-B544-CBD0-6B52-19363D05AAC8}"/>
              </a:ext>
            </a:extLst>
          </p:cNvPr>
          <p:cNvPicPr>
            <a:picLocks noChangeAspect="1"/>
          </p:cNvPicPr>
          <p:nvPr/>
        </p:nvPicPr>
        <p:blipFill>
          <a:blip r:embed="rId3"/>
          <a:stretch>
            <a:fillRect/>
          </a:stretch>
        </p:blipFill>
        <p:spPr>
          <a:xfrm>
            <a:off x="238401" y="1599404"/>
            <a:ext cx="8640693" cy="2651783"/>
          </a:xfrm>
          <a:prstGeom prst="rect">
            <a:avLst/>
          </a:prstGeom>
        </p:spPr>
      </p:pic>
    </p:spTree>
    <p:extLst>
      <p:ext uri="{BB962C8B-B14F-4D97-AF65-F5344CB8AC3E}">
        <p14:creationId xmlns:p14="http://schemas.microsoft.com/office/powerpoint/2010/main" val="26944260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AB6D2-379A-9C48-8D5C-108E947B5C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862326-880E-E52D-8DEA-847A57DE556B}"/>
              </a:ext>
            </a:extLst>
          </p:cNvPr>
          <p:cNvSpPr>
            <a:spLocks noGrp="1"/>
          </p:cNvSpPr>
          <p:nvPr>
            <p:ph type="title"/>
          </p:nvPr>
        </p:nvSpPr>
        <p:spPr>
          <a:xfrm>
            <a:off x="298174" y="354885"/>
            <a:ext cx="8521148" cy="768822"/>
          </a:xfrm>
        </p:spPr>
        <p:txBody>
          <a:bodyPr/>
          <a:lstStyle/>
          <a:p>
            <a:r>
              <a:rPr lang="en-CA" sz="2800" dirty="0"/>
              <a:t>Modeling - Clustering</a:t>
            </a:r>
            <a:r>
              <a:rPr lang="en-US" sz="2800" dirty="0"/>
              <a:t> </a:t>
            </a:r>
            <a:r>
              <a:rPr lang="en-US" sz="2800" dirty="0" err="1"/>
              <a:t>Con't</a:t>
            </a:r>
            <a:endParaRPr lang="en-CA" sz="2800" dirty="0"/>
          </a:p>
        </p:txBody>
      </p:sp>
      <p:sp>
        <p:nvSpPr>
          <p:cNvPr id="5" name="Slide Number Placeholder 4">
            <a:extLst>
              <a:ext uri="{FF2B5EF4-FFF2-40B4-BE49-F238E27FC236}">
                <a16:creationId xmlns:a16="http://schemas.microsoft.com/office/drawing/2014/main" id="{D2CA6C49-87D2-BD45-45DF-C3AEBA3A4918}"/>
              </a:ext>
            </a:extLst>
          </p:cNvPr>
          <p:cNvSpPr>
            <a:spLocks noGrp="1"/>
          </p:cNvSpPr>
          <p:nvPr>
            <p:ph type="sldNum" sz="quarter" idx="19"/>
          </p:nvPr>
        </p:nvSpPr>
        <p:spPr>
          <a:xfrm>
            <a:off x="111972" y="6373091"/>
            <a:ext cx="434127" cy="365126"/>
          </a:xfrm>
        </p:spPr>
        <p:txBody>
          <a:bodyPr/>
          <a:lstStyle/>
          <a:p>
            <a:fld id="{DEF3F5F5-7776-394F-A41F-3BAFC9CC9F8E}" type="slidenum">
              <a:rPr lang="en-US" smtClean="0"/>
              <a:pPr/>
              <a:t>12</a:t>
            </a:fld>
            <a:endParaRPr lang="en-US" dirty="0"/>
          </a:p>
        </p:txBody>
      </p:sp>
      <p:pic>
        <p:nvPicPr>
          <p:cNvPr id="6" name="Picture 5">
            <a:extLst>
              <a:ext uri="{FF2B5EF4-FFF2-40B4-BE49-F238E27FC236}">
                <a16:creationId xmlns:a16="http://schemas.microsoft.com/office/drawing/2014/main" id="{CE78E547-1212-B1C6-945D-6375FD7AA7D0}"/>
              </a:ext>
            </a:extLst>
          </p:cNvPr>
          <p:cNvPicPr>
            <a:picLocks noChangeAspect="1"/>
          </p:cNvPicPr>
          <p:nvPr/>
        </p:nvPicPr>
        <p:blipFill>
          <a:blip r:embed="rId3"/>
          <a:stretch>
            <a:fillRect/>
          </a:stretch>
        </p:blipFill>
        <p:spPr>
          <a:xfrm>
            <a:off x="0" y="1628350"/>
            <a:ext cx="9144000" cy="3601299"/>
          </a:xfrm>
          <a:prstGeom prst="rect">
            <a:avLst/>
          </a:prstGeom>
        </p:spPr>
      </p:pic>
    </p:spTree>
    <p:extLst>
      <p:ext uri="{BB962C8B-B14F-4D97-AF65-F5344CB8AC3E}">
        <p14:creationId xmlns:p14="http://schemas.microsoft.com/office/powerpoint/2010/main" val="3169187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54F8F-D052-7A12-795F-2E6468C0C5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C8A3DB-CBFF-9BBF-2B87-0D4EB69A8A7C}"/>
              </a:ext>
            </a:extLst>
          </p:cNvPr>
          <p:cNvSpPr>
            <a:spLocks noGrp="1"/>
          </p:cNvSpPr>
          <p:nvPr>
            <p:ph type="title"/>
          </p:nvPr>
        </p:nvSpPr>
        <p:spPr>
          <a:xfrm>
            <a:off x="298174" y="354885"/>
            <a:ext cx="8521148" cy="768822"/>
          </a:xfrm>
        </p:spPr>
        <p:txBody>
          <a:bodyPr/>
          <a:lstStyle/>
          <a:p>
            <a:r>
              <a:rPr lang="en-CA" sz="2800" dirty="0"/>
              <a:t>Modeling - Clustering</a:t>
            </a:r>
            <a:r>
              <a:rPr lang="en-US" sz="2800" dirty="0"/>
              <a:t> </a:t>
            </a:r>
            <a:r>
              <a:rPr lang="en-US" sz="2800" dirty="0" err="1"/>
              <a:t>Con't</a:t>
            </a:r>
            <a:endParaRPr lang="en-CA" sz="2800" dirty="0"/>
          </a:p>
        </p:txBody>
      </p:sp>
      <p:sp>
        <p:nvSpPr>
          <p:cNvPr id="5" name="Slide Number Placeholder 4">
            <a:extLst>
              <a:ext uri="{FF2B5EF4-FFF2-40B4-BE49-F238E27FC236}">
                <a16:creationId xmlns:a16="http://schemas.microsoft.com/office/drawing/2014/main" id="{0F2E8558-F015-0FEA-23D5-7BF0DA827D0C}"/>
              </a:ext>
            </a:extLst>
          </p:cNvPr>
          <p:cNvSpPr>
            <a:spLocks noGrp="1"/>
          </p:cNvSpPr>
          <p:nvPr>
            <p:ph type="sldNum" sz="quarter" idx="19"/>
          </p:nvPr>
        </p:nvSpPr>
        <p:spPr>
          <a:xfrm>
            <a:off x="111972" y="6373091"/>
            <a:ext cx="434127" cy="365126"/>
          </a:xfrm>
        </p:spPr>
        <p:txBody>
          <a:bodyPr/>
          <a:lstStyle/>
          <a:p>
            <a:fld id="{DEF3F5F5-7776-394F-A41F-3BAFC9CC9F8E}" type="slidenum">
              <a:rPr lang="en-US" smtClean="0"/>
              <a:pPr/>
              <a:t>13</a:t>
            </a:fld>
            <a:endParaRPr lang="en-US" dirty="0"/>
          </a:p>
        </p:txBody>
      </p:sp>
      <p:pic>
        <p:nvPicPr>
          <p:cNvPr id="4" name="Picture 3">
            <a:extLst>
              <a:ext uri="{FF2B5EF4-FFF2-40B4-BE49-F238E27FC236}">
                <a16:creationId xmlns:a16="http://schemas.microsoft.com/office/drawing/2014/main" id="{D59F0918-8B50-A426-FF50-53AABF448213}"/>
              </a:ext>
            </a:extLst>
          </p:cNvPr>
          <p:cNvPicPr>
            <a:picLocks noChangeAspect="1"/>
          </p:cNvPicPr>
          <p:nvPr/>
        </p:nvPicPr>
        <p:blipFill>
          <a:blip r:embed="rId3"/>
          <a:stretch>
            <a:fillRect/>
          </a:stretch>
        </p:blipFill>
        <p:spPr>
          <a:xfrm>
            <a:off x="0" y="951629"/>
            <a:ext cx="9144000" cy="5166776"/>
          </a:xfrm>
          <a:prstGeom prst="rect">
            <a:avLst/>
          </a:prstGeom>
        </p:spPr>
      </p:pic>
    </p:spTree>
    <p:extLst>
      <p:ext uri="{BB962C8B-B14F-4D97-AF65-F5344CB8AC3E}">
        <p14:creationId xmlns:p14="http://schemas.microsoft.com/office/powerpoint/2010/main" val="7329887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09DAD-D5ED-2B21-169B-95B9D9DF73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ED1B6E-04F4-F709-3132-049D5011A1C7}"/>
              </a:ext>
            </a:extLst>
          </p:cNvPr>
          <p:cNvSpPr>
            <a:spLocks noGrp="1"/>
          </p:cNvSpPr>
          <p:nvPr>
            <p:ph type="title"/>
          </p:nvPr>
        </p:nvSpPr>
        <p:spPr>
          <a:xfrm>
            <a:off x="298174" y="354885"/>
            <a:ext cx="8521148" cy="768822"/>
          </a:xfrm>
        </p:spPr>
        <p:txBody>
          <a:bodyPr/>
          <a:lstStyle/>
          <a:p>
            <a:r>
              <a:rPr lang="en-CA" sz="2800" dirty="0"/>
              <a:t>Results - Clustering</a:t>
            </a:r>
          </a:p>
        </p:txBody>
      </p:sp>
      <p:sp>
        <p:nvSpPr>
          <p:cNvPr id="3" name="Text Placeholder 2">
            <a:extLst>
              <a:ext uri="{FF2B5EF4-FFF2-40B4-BE49-F238E27FC236}">
                <a16:creationId xmlns:a16="http://schemas.microsoft.com/office/drawing/2014/main" id="{96E25CEE-8CEF-6B4C-6DA4-273F7A1E1A74}"/>
              </a:ext>
            </a:extLst>
          </p:cNvPr>
          <p:cNvSpPr>
            <a:spLocks noGrp="1"/>
          </p:cNvSpPr>
          <p:nvPr>
            <p:ph type="body" sz="quarter" idx="15"/>
          </p:nvPr>
        </p:nvSpPr>
        <p:spPr>
          <a:xfrm>
            <a:off x="311425" y="1121741"/>
            <a:ext cx="8521149" cy="4605130"/>
          </a:xfrm>
        </p:spPr>
        <p:txBody>
          <a:bodyPr>
            <a:normAutofit fontScale="92500" lnSpcReduction="10000"/>
          </a:bodyPr>
          <a:lstStyle/>
          <a:p>
            <a:r>
              <a:rPr lang="en-US" sz="2000" b="1" dirty="0"/>
              <a:t>Cluster Summary</a:t>
            </a:r>
          </a:p>
          <a:p>
            <a:pPr marL="0" indent="0">
              <a:buNone/>
            </a:pPr>
            <a:r>
              <a:rPr lang="en-US" sz="2000" dirty="0"/>
              <a:t>	4 distinct patterns identified</a:t>
            </a:r>
          </a:p>
          <a:p>
            <a:pPr marL="0" indent="0">
              <a:buNone/>
            </a:pPr>
            <a:r>
              <a:rPr lang="en-US" sz="2000" dirty="0"/>
              <a:t>	Geographic &amp; temporal patterns revealed</a:t>
            </a:r>
          </a:p>
          <a:p>
            <a:pPr marL="0" indent="0">
              <a:buNone/>
            </a:pPr>
            <a:endParaRPr lang="en-US" sz="2000" dirty="0"/>
          </a:p>
          <a:p>
            <a:r>
              <a:rPr lang="en-US" sz="2000" b="1" dirty="0"/>
              <a:t>Cluster Characteristics</a:t>
            </a:r>
          </a:p>
          <a:p>
            <a:pPr marL="0" indent="0">
              <a:buNone/>
            </a:pPr>
            <a:r>
              <a:rPr lang="en-US" sz="2000" dirty="0"/>
              <a:t>	Cluster 0: Weekend violations (19.6%)</a:t>
            </a:r>
          </a:p>
          <a:p>
            <a:pPr marL="0" indent="0">
              <a:buNone/>
            </a:pPr>
            <a:r>
              <a:rPr lang="en-US" sz="2000" dirty="0"/>
              <a:t>	Cluster 1: General weekday (75.3%) - largest</a:t>
            </a:r>
          </a:p>
          <a:p>
            <a:pPr marL="0" indent="0">
              <a:buNone/>
            </a:pPr>
            <a:r>
              <a:rPr lang="en-US" sz="2000" dirty="0"/>
              <a:t>	Cluster 2: Morning commute, newer vehicles (2.5%)</a:t>
            </a:r>
          </a:p>
          <a:p>
            <a:pPr marL="0" indent="0">
              <a:buNone/>
            </a:pPr>
            <a:r>
              <a:rPr lang="en-US" sz="2000" dirty="0"/>
              <a:t>	Cluster 3: 100% accident rate (2.6%) - high-risk!</a:t>
            </a:r>
          </a:p>
          <a:p>
            <a:pPr marL="0" indent="0">
              <a:buNone/>
            </a:pPr>
            <a:endParaRPr lang="en-US" sz="2000" dirty="0"/>
          </a:p>
          <a:p>
            <a:r>
              <a:rPr lang="en-US" sz="2000" b="1" dirty="0"/>
              <a:t>Key Finding</a:t>
            </a:r>
          </a:p>
          <a:p>
            <a:pPr marL="0" indent="0">
              <a:buNone/>
            </a:pPr>
            <a:r>
              <a:rPr lang="en-US" sz="2000" dirty="0"/>
              <a:t>	Cluster 3: 100% accident rate - unexpected!</a:t>
            </a:r>
          </a:p>
          <a:p>
            <a:endParaRPr lang="en-CA" sz="2000" dirty="0"/>
          </a:p>
        </p:txBody>
      </p:sp>
      <p:sp>
        <p:nvSpPr>
          <p:cNvPr id="5" name="Slide Number Placeholder 4">
            <a:extLst>
              <a:ext uri="{FF2B5EF4-FFF2-40B4-BE49-F238E27FC236}">
                <a16:creationId xmlns:a16="http://schemas.microsoft.com/office/drawing/2014/main" id="{9BD7A3E0-7272-747E-2C96-AAFCBDE67176}"/>
              </a:ext>
            </a:extLst>
          </p:cNvPr>
          <p:cNvSpPr>
            <a:spLocks noGrp="1"/>
          </p:cNvSpPr>
          <p:nvPr>
            <p:ph type="sldNum" sz="quarter" idx="19"/>
          </p:nvPr>
        </p:nvSpPr>
        <p:spPr>
          <a:xfrm>
            <a:off x="111972" y="6373091"/>
            <a:ext cx="453177" cy="365126"/>
          </a:xfrm>
        </p:spPr>
        <p:txBody>
          <a:bodyPr/>
          <a:lstStyle/>
          <a:p>
            <a:fld id="{DEF3F5F5-7776-394F-A41F-3BAFC9CC9F8E}" type="slidenum">
              <a:rPr lang="en-US" smtClean="0"/>
              <a:pPr/>
              <a:t>14</a:t>
            </a:fld>
            <a:endParaRPr lang="en-US" dirty="0"/>
          </a:p>
        </p:txBody>
      </p:sp>
    </p:spTree>
    <p:extLst>
      <p:ext uri="{BB962C8B-B14F-4D97-AF65-F5344CB8AC3E}">
        <p14:creationId xmlns:p14="http://schemas.microsoft.com/office/powerpoint/2010/main" val="35655482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FB729-F54B-79AD-3ACA-1FB4CC0C8E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EF4FF4-D275-7579-D589-6C40E7F75399}"/>
              </a:ext>
            </a:extLst>
          </p:cNvPr>
          <p:cNvSpPr>
            <a:spLocks noGrp="1"/>
          </p:cNvSpPr>
          <p:nvPr>
            <p:ph type="title"/>
          </p:nvPr>
        </p:nvSpPr>
        <p:spPr>
          <a:xfrm>
            <a:off x="298174" y="354885"/>
            <a:ext cx="8521148" cy="768822"/>
          </a:xfrm>
        </p:spPr>
        <p:txBody>
          <a:bodyPr/>
          <a:lstStyle/>
          <a:p>
            <a:r>
              <a:rPr lang="en-CA" sz="2800" dirty="0"/>
              <a:t>Results – Clustering </a:t>
            </a:r>
            <a:r>
              <a:rPr lang="en-US" sz="2800" dirty="0" err="1"/>
              <a:t>Con't</a:t>
            </a:r>
            <a:endParaRPr lang="en-CA" sz="2800" dirty="0"/>
          </a:p>
        </p:txBody>
      </p:sp>
      <p:sp>
        <p:nvSpPr>
          <p:cNvPr id="5" name="Slide Number Placeholder 4">
            <a:extLst>
              <a:ext uri="{FF2B5EF4-FFF2-40B4-BE49-F238E27FC236}">
                <a16:creationId xmlns:a16="http://schemas.microsoft.com/office/drawing/2014/main" id="{867AD791-5499-1FDE-AA5C-C27E8C63ED6D}"/>
              </a:ext>
            </a:extLst>
          </p:cNvPr>
          <p:cNvSpPr>
            <a:spLocks noGrp="1"/>
          </p:cNvSpPr>
          <p:nvPr>
            <p:ph type="sldNum" sz="quarter" idx="19"/>
          </p:nvPr>
        </p:nvSpPr>
        <p:spPr>
          <a:xfrm>
            <a:off x="111972" y="6373091"/>
            <a:ext cx="453177" cy="365126"/>
          </a:xfrm>
        </p:spPr>
        <p:txBody>
          <a:bodyPr/>
          <a:lstStyle/>
          <a:p>
            <a:fld id="{DEF3F5F5-7776-394F-A41F-3BAFC9CC9F8E}" type="slidenum">
              <a:rPr lang="en-US" smtClean="0"/>
              <a:pPr/>
              <a:t>15</a:t>
            </a:fld>
            <a:endParaRPr lang="en-US" dirty="0"/>
          </a:p>
        </p:txBody>
      </p:sp>
      <p:pic>
        <p:nvPicPr>
          <p:cNvPr id="4" name="Picture 3" descr="figure_27.png">
            <a:extLst>
              <a:ext uri="{FF2B5EF4-FFF2-40B4-BE49-F238E27FC236}">
                <a16:creationId xmlns:a16="http://schemas.microsoft.com/office/drawing/2014/main" id="{DAC29FA5-F878-B9E2-6C09-BD875F0B2B5B}"/>
              </a:ext>
            </a:extLst>
          </p:cNvPr>
          <p:cNvPicPr>
            <a:picLocks noChangeAspect="1"/>
          </p:cNvPicPr>
          <p:nvPr/>
        </p:nvPicPr>
        <p:blipFill>
          <a:blip r:embed="rId3"/>
          <a:stretch>
            <a:fillRect/>
          </a:stretch>
        </p:blipFill>
        <p:spPr>
          <a:xfrm>
            <a:off x="82550" y="1854200"/>
            <a:ext cx="8962231" cy="2679700"/>
          </a:xfrm>
          <a:prstGeom prst="rect">
            <a:avLst/>
          </a:prstGeom>
        </p:spPr>
      </p:pic>
    </p:spTree>
    <p:extLst>
      <p:ext uri="{BB962C8B-B14F-4D97-AF65-F5344CB8AC3E}">
        <p14:creationId xmlns:p14="http://schemas.microsoft.com/office/powerpoint/2010/main" val="37911519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B66AB-3325-D398-58DD-D32449D95E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CFADD0-81A9-5274-D1EE-E900F143BF1F}"/>
              </a:ext>
            </a:extLst>
          </p:cNvPr>
          <p:cNvSpPr>
            <a:spLocks noGrp="1"/>
          </p:cNvSpPr>
          <p:nvPr>
            <p:ph type="title"/>
          </p:nvPr>
        </p:nvSpPr>
        <p:spPr>
          <a:xfrm>
            <a:off x="311426" y="240585"/>
            <a:ext cx="8521148" cy="768822"/>
          </a:xfrm>
        </p:spPr>
        <p:txBody>
          <a:bodyPr/>
          <a:lstStyle/>
          <a:p>
            <a:r>
              <a:rPr lang="en-CA" sz="2800" dirty="0"/>
              <a:t>Modeling - </a:t>
            </a:r>
            <a:r>
              <a:rPr lang="en-US" altLang="zh-CN" dirty="0"/>
              <a:t>Outlier Detection Model Building</a:t>
            </a:r>
            <a:br>
              <a:rPr lang="en-US" altLang="zh-CN" b="0" dirty="0"/>
            </a:br>
            <a:endParaRPr lang="en-CA" sz="2800" dirty="0"/>
          </a:p>
        </p:txBody>
      </p:sp>
      <p:sp>
        <p:nvSpPr>
          <p:cNvPr id="3" name="Text Placeholder 2">
            <a:extLst>
              <a:ext uri="{FF2B5EF4-FFF2-40B4-BE49-F238E27FC236}">
                <a16:creationId xmlns:a16="http://schemas.microsoft.com/office/drawing/2014/main" id="{4988773C-93C6-37B0-8561-4133B011A237}"/>
              </a:ext>
            </a:extLst>
          </p:cNvPr>
          <p:cNvSpPr>
            <a:spLocks noGrp="1"/>
          </p:cNvSpPr>
          <p:nvPr>
            <p:ph type="body" sz="quarter" idx="15"/>
          </p:nvPr>
        </p:nvSpPr>
        <p:spPr>
          <a:xfrm>
            <a:off x="324678" y="1009408"/>
            <a:ext cx="4407578" cy="5004894"/>
          </a:xfrm>
        </p:spPr>
        <p:txBody>
          <a:bodyPr>
            <a:noAutofit/>
          </a:bodyPr>
          <a:lstStyle/>
          <a:p>
            <a:pPr marL="0" indent="0">
              <a:spcBef>
                <a:spcPts val="300"/>
              </a:spcBef>
              <a:buNone/>
            </a:pPr>
            <a:r>
              <a:rPr lang="en-US" sz="1600" b="1" dirty="0"/>
              <a:t>Presenter</a:t>
            </a:r>
            <a:r>
              <a:rPr lang="en-US" sz="1600" dirty="0"/>
              <a:t>: Peng Wang</a:t>
            </a:r>
          </a:p>
          <a:p>
            <a:pPr marL="0" indent="0">
              <a:buNone/>
            </a:pPr>
            <a:r>
              <a:rPr lang="en-US" altLang="zh-CN" sz="1600" b="1" dirty="0"/>
              <a:t>Dataset:</a:t>
            </a:r>
            <a:endParaRPr lang="en-US" altLang="zh-CN" sz="1600" dirty="0"/>
          </a:p>
          <a:p>
            <a:pPr marL="0" indent="0">
              <a:buNone/>
            </a:pPr>
            <a:r>
              <a:rPr lang="en-US" altLang="zh-CN" sz="1600" dirty="0"/>
              <a:t>• 10,000 samples × 22 features</a:t>
            </a:r>
          </a:p>
          <a:p>
            <a:pPr marL="0" indent="0">
              <a:buNone/>
            </a:pPr>
            <a:r>
              <a:rPr lang="en-US" altLang="zh-CN" sz="1600" dirty="0"/>
              <a:t>• Standardized features (mean=0, std=1)</a:t>
            </a:r>
          </a:p>
          <a:p>
            <a:pPr marL="0" indent="0">
              <a:buNone/>
            </a:pPr>
            <a:r>
              <a:rPr lang="en-US" altLang="zh-CN" sz="1600" b="1" dirty="0"/>
              <a:t>Model 1: LOF (Local Outlier Factor)</a:t>
            </a:r>
            <a:endParaRPr lang="en-US" altLang="zh-CN" sz="1600" dirty="0"/>
          </a:p>
          <a:p>
            <a:pPr marL="0" indent="0">
              <a:buNone/>
            </a:pPr>
            <a:r>
              <a:rPr lang="en-US" altLang="zh-CN" sz="1600" dirty="0"/>
              <a:t>• </a:t>
            </a:r>
            <a:r>
              <a:rPr lang="en-US" altLang="zh-CN" sz="1600" dirty="0" err="1"/>
              <a:t>n_neighbors</a:t>
            </a:r>
            <a:r>
              <a:rPr lang="en-US" altLang="zh-CN" sz="1600" dirty="0"/>
              <a:t>: 20</a:t>
            </a:r>
          </a:p>
          <a:p>
            <a:pPr marL="0" indent="0">
              <a:buNone/>
            </a:pPr>
            <a:r>
              <a:rPr lang="en-US" altLang="zh-CN" sz="1600" dirty="0"/>
              <a:t>• contamination: 0.01 (1% outliers expected)</a:t>
            </a:r>
          </a:p>
          <a:p>
            <a:pPr marL="0" indent="0">
              <a:buNone/>
            </a:pPr>
            <a:r>
              <a:rPr lang="en-US" altLang="zh-CN" sz="1600" dirty="0"/>
              <a:t>• Method: Local density-based detection</a:t>
            </a:r>
          </a:p>
          <a:p>
            <a:pPr marL="0" indent="0">
              <a:buNone/>
            </a:pPr>
            <a:r>
              <a:rPr lang="en-US" altLang="zh-CN" sz="1600" dirty="0"/>
              <a:t>• Output: LOF scores and outlier labels</a:t>
            </a:r>
            <a:br>
              <a:rPr lang="en-US" altLang="zh-CN" sz="1600" dirty="0"/>
            </a:br>
            <a:r>
              <a:rPr lang="en-US" altLang="zh-CN" sz="1600" b="1" dirty="0"/>
              <a:t>Model 2: Distance-based</a:t>
            </a:r>
            <a:endParaRPr lang="en-US" altLang="zh-CN" sz="1600" dirty="0"/>
          </a:p>
          <a:p>
            <a:pPr marL="0" indent="0">
              <a:buNone/>
            </a:pPr>
            <a:r>
              <a:rPr lang="en-US" altLang="zh-CN" sz="1600" dirty="0"/>
              <a:t>• </a:t>
            </a:r>
            <a:r>
              <a:rPr lang="en-US" altLang="zh-CN" sz="1600" dirty="0" err="1"/>
              <a:t>k_neighbors</a:t>
            </a:r>
            <a:r>
              <a:rPr lang="en-US" altLang="zh-CN" sz="1600" dirty="0"/>
              <a:t>: 20</a:t>
            </a:r>
          </a:p>
          <a:p>
            <a:pPr marL="0" indent="0">
              <a:buNone/>
            </a:pPr>
            <a:r>
              <a:rPr lang="en-US" altLang="zh-CN" sz="1600" dirty="0"/>
              <a:t>• Threshold: 99th percentile (top 1% as outliers)</a:t>
            </a:r>
          </a:p>
          <a:p>
            <a:pPr marL="0" indent="0">
              <a:buNone/>
            </a:pPr>
            <a:r>
              <a:rPr lang="en-US" altLang="zh-CN" sz="1600" dirty="0"/>
              <a:t>• Method: Global distance-based detection</a:t>
            </a:r>
          </a:p>
          <a:p>
            <a:pPr marL="0" indent="0">
              <a:buNone/>
            </a:pPr>
            <a:r>
              <a:rPr lang="en-US" altLang="zh-CN" sz="1600" dirty="0"/>
              <a:t>• Output: Distance scores and outlier labels</a:t>
            </a:r>
            <a:endParaRPr lang="en-US" sz="2000" dirty="0"/>
          </a:p>
          <a:p>
            <a:pPr marL="0" indent="0">
              <a:spcBef>
                <a:spcPts val="300"/>
              </a:spcBef>
              <a:buNone/>
            </a:pPr>
            <a:endParaRPr lang="en-US" sz="2000" dirty="0"/>
          </a:p>
          <a:p>
            <a:pPr marL="0" indent="0">
              <a:spcBef>
                <a:spcPts val="300"/>
              </a:spcBef>
              <a:buNone/>
            </a:pPr>
            <a:endParaRPr lang="en-US" sz="2000" dirty="0"/>
          </a:p>
        </p:txBody>
      </p:sp>
      <p:sp>
        <p:nvSpPr>
          <p:cNvPr id="5" name="Slide Number Placeholder 4">
            <a:extLst>
              <a:ext uri="{FF2B5EF4-FFF2-40B4-BE49-F238E27FC236}">
                <a16:creationId xmlns:a16="http://schemas.microsoft.com/office/drawing/2014/main" id="{9B9432A0-774A-2BEB-FB74-EE30B8FE94E0}"/>
              </a:ext>
            </a:extLst>
          </p:cNvPr>
          <p:cNvSpPr>
            <a:spLocks noGrp="1"/>
          </p:cNvSpPr>
          <p:nvPr>
            <p:ph type="sldNum" sz="quarter" idx="19"/>
          </p:nvPr>
        </p:nvSpPr>
        <p:spPr>
          <a:xfrm>
            <a:off x="111972" y="6373091"/>
            <a:ext cx="497627" cy="365126"/>
          </a:xfrm>
        </p:spPr>
        <p:txBody>
          <a:bodyPr/>
          <a:lstStyle/>
          <a:p>
            <a:fld id="{DEF3F5F5-7776-394F-A41F-3BAFC9CC9F8E}" type="slidenum">
              <a:rPr lang="en-US" smtClean="0"/>
              <a:pPr/>
              <a:t>16</a:t>
            </a:fld>
            <a:endParaRPr lang="en-US" dirty="0"/>
          </a:p>
        </p:txBody>
      </p:sp>
      <p:sp>
        <p:nvSpPr>
          <p:cNvPr id="6" name="文本框 5">
            <a:extLst>
              <a:ext uri="{FF2B5EF4-FFF2-40B4-BE49-F238E27FC236}">
                <a16:creationId xmlns:a16="http://schemas.microsoft.com/office/drawing/2014/main" id="{F63996BA-96C6-A8E6-3F3C-781FE9E8E194}"/>
              </a:ext>
            </a:extLst>
          </p:cNvPr>
          <p:cNvSpPr txBox="1"/>
          <p:nvPr/>
        </p:nvSpPr>
        <p:spPr>
          <a:xfrm>
            <a:off x="4572000" y="1007498"/>
            <a:ext cx="4572000" cy="3416320"/>
          </a:xfrm>
          <a:prstGeom prst="rect">
            <a:avLst/>
          </a:prstGeom>
          <a:noFill/>
        </p:spPr>
        <p:txBody>
          <a:bodyPr wrap="square">
            <a:spAutoFit/>
          </a:bodyPr>
          <a:lstStyle/>
          <a:p>
            <a:r>
              <a:rPr lang="en-US" altLang="zh-CN" sz="1800" b="1" dirty="0"/>
              <a:t>Integration Strategy:</a:t>
            </a:r>
            <a:endParaRPr lang="en-US" altLang="zh-CN" sz="1800" dirty="0"/>
          </a:p>
          <a:p>
            <a:r>
              <a:rPr lang="en-US" altLang="zh-CN" sz="1800" dirty="0"/>
              <a:t>• Combine both methods</a:t>
            </a:r>
          </a:p>
          <a:p>
            <a:r>
              <a:rPr lang="en-US" altLang="zh-CN" sz="1800" dirty="0"/>
              <a:t>• Find outliers detected by both methods</a:t>
            </a:r>
          </a:p>
          <a:p>
            <a:r>
              <a:rPr lang="en-US" altLang="zh-CN" sz="1800" dirty="0"/>
              <a:t>• Result: High-confidence outliers with fewer false positives</a:t>
            </a:r>
          </a:p>
          <a:p>
            <a:br>
              <a:rPr lang="en-US" altLang="zh-CN" sz="1800" dirty="0"/>
            </a:br>
            <a:endParaRPr lang="en-US" altLang="zh-CN" sz="1800" dirty="0"/>
          </a:p>
          <a:p>
            <a:r>
              <a:rPr lang="en-US" altLang="zh-CN" sz="1800" b="1" dirty="0"/>
              <a:t>Key Parameters:</a:t>
            </a:r>
            <a:endParaRPr lang="en-US" altLang="zh-CN" sz="1800" dirty="0"/>
          </a:p>
          <a:p>
            <a:r>
              <a:rPr lang="en-US" altLang="zh-CN" sz="1800" dirty="0"/>
              <a:t>• Both models use 20 neighbors for consistency</a:t>
            </a:r>
          </a:p>
          <a:p>
            <a:r>
              <a:rPr lang="en-US" altLang="zh-CN" sz="1800" dirty="0"/>
              <a:t>• Both target 1% of data as outliers</a:t>
            </a:r>
          </a:p>
          <a:p>
            <a:r>
              <a:rPr lang="en-US" altLang="zh-CN" sz="1800" dirty="0"/>
              <a:t>• </a:t>
            </a:r>
            <a:r>
              <a:rPr lang="en-US" altLang="zh-CN" sz="1800" dirty="0" err="1"/>
              <a:t>StandardScaler</a:t>
            </a:r>
            <a:r>
              <a:rPr lang="en-US" altLang="zh-CN" sz="1800" dirty="0"/>
              <a:t> applied to all features</a:t>
            </a:r>
          </a:p>
        </p:txBody>
      </p:sp>
    </p:spTree>
    <p:extLst>
      <p:ext uri="{BB962C8B-B14F-4D97-AF65-F5344CB8AC3E}">
        <p14:creationId xmlns:p14="http://schemas.microsoft.com/office/powerpoint/2010/main" val="10671279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04E7A-78F3-086A-25CA-B3635D7163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46EE54-1EEB-E1CD-9B61-936CFEAD4594}"/>
              </a:ext>
            </a:extLst>
          </p:cNvPr>
          <p:cNvSpPr>
            <a:spLocks noGrp="1"/>
          </p:cNvSpPr>
          <p:nvPr>
            <p:ph type="title"/>
          </p:nvPr>
        </p:nvSpPr>
        <p:spPr>
          <a:xfrm>
            <a:off x="298174" y="354885"/>
            <a:ext cx="8521148" cy="768822"/>
          </a:xfrm>
        </p:spPr>
        <p:txBody>
          <a:bodyPr/>
          <a:lstStyle/>
          <a:p>
            <a:r>
              <a:rPr lang="en-CA" sz="2800" dirty="0"/>
              <a:t>Modeling -</a:t>
            </a:r>
            <a:r>
              <a:rPr lang="en-US" altLang="zh-CN" dirty="0"/>
              <a:t>  Outlier Model Assessment Summary</a:t>
            </a:r>
            <a:br>
              <a:rPr lang="en-US" altLang="zh-CN" b="0" dirty="0"/>
            </a:br>
            <a:br>
              <a:rPr lang="en-US" altLang="zh-CN" b="0" dirty="0"/>
            </a:br>
            <a:br>
              <a:rPr lang="en-US" altLang="zh-CN" b="0" dirty="0"/>
            </a:br>
            <a:endParaRPr lang="en-CA" sz="2800" dirty="0"/>
          </a:p>
        </p:txBody>
      </p:sp>
      <p:sp>
        <p:nvSpPr>
          <p:cNvPr id="5" name="Slide Number Placeholder 4">
            <a:extLst>
              <a:ext uri="{FF2B5EF4-FFF2-40B4-BE49-F238E27FC236}">
                <a16:creationId xmlns:a16="http://schemas.microsoft.com/office/drawing/2014/main" id="{5ED0DFA0-91A2-5270-EE7E-794A5F5C2D52}"/>
              </a:ext>
            </a:extLst>
          </p:cNvPr>
          <p:cNvSpPr>
            <a:spLocks noGrp="1"/>
          </p:cNvSpPr>
          <p:nvPr>
            <p:ph type="sldNum" sz="quarter" idx="19"/>
          </p:nvPr>
        </p:nvSpPr>
        <p:spPr>
          <a:xfrm>
            <a:off x="111972" y="6373091"/>
            <a:ext cx="497627" cy="365126"/>
          </a:xfrm>
        </p:spPr>
        <p:txBody>
          <a:bodyPr/>
          <a:lstStyle/>
          <a:p>
            <a:fld id="{DEF3F5F5-7776-394F-A41F-3BAFC9CC9F8E}" type="slidenum">
              <a:rPr lang="en-US" smtClean="0"/>
              <a:pPr/>
              <a:t>17</a:t>
            </a:fld>
            <a:endParaRPr lang="en-US" dirty="0"/>
          </a:p>
        </p:txBody>
      </p:sp>
      <p:pic>
        <p:nvPicPr>
          <p:cNvPr id="4" name="图片 3">
            <a:extLst>
              <a:ext uri="{FF2B5EF4-FFF2-40B4-BE49-F238E27FC236}">
                <a16:creationId xmlns:a16="http://schemas.microsoft.com/office/drawing/2014/main" id="{4C43655B-E2DA-C6A6-7143-059334E622FB}"/>
              </a:ext>
            </a:extLst>
          </p:cNvPr>
          <p:cNvPicPr>
            <a:picLocks noChangeAspect="1"/>
          </p:cNvPicPr>
          <p:nvPr/>
        </p:nvPicPr>
        <p:blipFill>
          <a:blip r:embed="rId3"/>
          <a:stretch>
            <a:fillRect/>
          </a:stretch>
        </p:blipFill>
        <p:spPr>
          <a:xfrm>
            <a:off x="5264119" y="927378"/>
            <a:ext cx="3511130" cy="2073898"/>
          </a:xfrm>
          <a:prstGeom prst="rect">
            <a:avLst/>
          </a:prstGeom>
        </p:spPr>
      </p:pic>
      <p:pic>
        <p:nvPicPr>
          <p:cNvPr id="8" name="图片 7">
            <a:extLst>
              <a:ext uri="{FF2B5EF4-FFF2-40B4-BE49-F238E27FC236}">
                <a16:creationId xmlns:a16="http://schemas.microsoft.com/office/drawing/2014/main" id="{D49894E8-F701-EE84-11F2-EFF425ECE3E3}"/>
              </a:ext>
            </a:extLst>
          </p:cNvPr>
          <p:cNvPicPr>
            <a:picLocks noChangeAspect="1"/>
          </p:cNvPicPr>
          <p:nvPr/>
        </p:nvPicPr>
        <p:blipFill>
          <a:blip r:embed="rId4"/>
          <a:stretch>
            <a:fillRect/>
          </a:stretch>
        </p:blipFill>
        <p:spPr>
          <a:xfrm>
            <a:off x="5033913" y="3289955"/>
            <a:ext cx="3912124" cy="2540524"/>
          </a:xfrm>
          <a:prstGeom prst="rect">
            <a:avLst/>
          </a:prstGeom>
        </p:spPr>
      </p:pic>
      <p:sp>
        <p:nvSpPr>
          <p:cNvPr id="10" name="文本框 9">
            <a:extLst>
              <a:ext uri="{FF2B5EF4-FFF2-40B4-BE49-F238E27FC236}">
                <a16:creationId xmlns:a16="http://schemas.microsoft.com/office/drawing/2014/main" id="{FC5C7CB0-84F0-B454-FB66-5B4E53AD24E3}"/>
              </a:ext>
            </a:extLst>
          </p:cNvPr>
          <p:cNvSpPr txBox="1"/>
          <p:nvPr/>
        </p:nvSpPr>
        <p:spPr>
          <a:xfrm>
            <a:off x="609599" y="1025196"/>
            <a:ext cx="4424314" cy="4402487"/>
          </a:xfrm>
          <a:prstGeom prst="rect">
            <a:avLst/>
          </a:prstGeom>
          <a:noFill/>
        </p:spPr>
        <p:txBody>
          <a:bodyPr wrap="square">
            <a:spAutoFit/>
          </a:bodyPr>
          <a:lstStyle/>
          <a:p>
            <a:pPr>
              <a:lnSpc>
                <a:spcPts val="1425"/>
              </a:lnSpc>
              <a:buNone/>
            </a:pPr>
            <a:r>
              <a:rPr lang="en-US" altLang="zh-CN" sz="1400" b="1" dirty="0">
                <a:solidFill>
                  <a:srgbClr val="000080"/>
                </a:solidFill>
                <a:effectLst/>
                <a:latin typeface="Consolas" panose="020B0609020204030204" pitchFamily="49" charset="0"/>
              </a:rPr>
              <a:t>Dataset:</a:t>
            </a:r>
            <a:endParaRPr lang="en-US" altLang="zh-CN" sz="1400" b="0" dirty="0">
              <a:solidFill>
                <a:srgbClr val="000000"/>
              </a:solidFill>
              <a:effectLst/>
              <a:latin typeface="Consolas" panose="020B0609020204030204" pitchFamily="49" charset="0"/>
            </a:endParaRPr>
          </a:p>
          <a:p>
            <a:pPr>
              <a:lnSpc>
                <a:spcPts val="1425"/>
              </a:lnSpc>
              <a:buNone/>
            </a:pPr>
            <a:r>
              <a:rPr lang="en-US" altLang="zh-CN" sz="1400" b="0" dirty="0">
                <a:solidFill>
                  <a:srgbClr val="000000"/>
                </a:solidFill>
                <a:effectLst/>
                <a:latin typeface="Consolas" panose="020B0609020204030204" pitchFamily="49" charset="0"/>
              </a:rPr>
              <a:t>• 10,000 records × 22 features</a:t>
            </a:r>
          </a:p>
          <a:p>
            <a:pPr>
              <a:lnSpc>
                <a:spcPts val="1425"/>
              </a:lnSpc>
              <a:buNone/>
            </a:pPr>
            <a:endParaRPr lang="en-US" altLang="zh-CN" sz="1400" b="0" dirty="0">
              <a:solidFill>
                <a:srgbClr val="000000"/>
              </a:solidFill>
              <a:effectLst/>
              <a:latin typeface="Consolas" panose="020B0609020204030204" pitchFamily="49" charset="0"/>
            </a:endParaRPr>
          </a:p>
          <a:p>
            <a:pPr>
              <a:lnSpc>
                <a:spcPts val="1425"/>
              </a:lnSpc>
              <a:buNone/>
            </a:pPr>
            <a:r>
              <a:rPr lang="en-US" altLang="zh-CN" sz="1400" b="1" dirty="0">
                <a:solidFill>
                  <a:srgbClr val="000080"/>
                </a:solidFill>
                <a:effectLst/>
                <a:latin typeface="Consolas" panose="020B0609020204030204" pitchFamily="49" charset="0"/>
              </a:rPr>
              <a:t>LOF Method Results:</a:t>
            </a:r>
            <a:endParaRPr lang="en-US" altLang="zh-CN" sz="1400" b="0" dirty="0">
              <a:solidFill>
                <a:srgbClr val="000000"/>
              </a:solidFill>
              <a:effectLst/>
              <a:latin typeface="Consolas" panose="020B0609020204030204" pitchFamily="49" charset="0"/>
            </a:endParaRPr>
          </a:p>
          <a:p>
            <a:pPr>
              <a:lnSpc>
                <a:spcPts val="1425"/>
              </a:lnSpc>
              <a:buNone/>
            </a:pPr>
            <a:r>
              <a:rPr lang="en-US" altLang="zh-CN" sz="1400" b="0" dirty="0">
                <a:solidFill>
                  <a:srgbClr val="000000"/>
                </a:solidFill>
                <a:effectLst/>
                <a:latin typeface="Consolas" panose="020B0609020204030204" pitchFamily="49" charset="0"/>
              </a:rPr>
              <a:t>• Outliers detected: 100 (1.00% of dataset)</a:t>
            </a:r>
          </a:p>
          <a:p>
            <a:pPr>
              <a:lnSpc>
                <a:spcPts val="1425"/>
              </a:lnSpc>
              <a:buNone/>
            </a:pPr>
            <a:r>
              <a:rPr lang="en-US" altLang="zh-CN" sz="1400" b="0" dirty="0">
                <a:solidFill>
                  <a:srgbClr val="000000"/>
                </a:solidFill>
                <a:effectLst/>
                <a:latin typeface="Consolas" panose="020B0609020204030204" pitchFamily="49" charset="0"/>
              </a:rPr>
              <a:t>• Method: Local density-based detection</a:t>
            </a:r>
          </a:p>
          <a:p>
            <a:pPr>
              <a:lnSpc>
                <a:spcPts val="1425"/>
              </a:lnSpc>
              <a:buNone/>
            </a:pPr>
            <a:r>
              <a:rPr lang="en-US" altLang="zh-CN" sz="1400" b="0" dirty="0">
                <a:solidFill>
                  <a:srgbClr val="000000"/>
                </a:solidFill>
                <a:effectLst/>
                <a:latin typeface="Consolas" panose="020B0609020204030204" pitchFamily="49" charset="0"/>
              </a:rPr>
              <a:t>• Type: Inliers: 9,900 (99.00%)</a:t>
            </a:r>
            <a:br>
              <a:rPr lang="en-US" altLang="zh-CN" sz="1400" b="0" dirty="0">
                <a:solidFill>
                  <a:srgbClr val="000000"/>
                </a:solidFill>
                <a:effectLst/>
                <a:latin typeface="Consolas" panose="020B0609020204030204" pitchFamily="49" charset="0"/>
              </a:rPr>
            </a:br>
            <a:endParaRPr lang="en-US" altLang="zh-CN" sz="1400" b="0" dirty="0">
              <a:solidFill>
                <a:srgbClr val="000000"/>
              </a:solidFill>
              <a:effectLst/>
              <a:latin typeface="Consolas" panose="020B0609020204030204" pitchFamily="49" charset="0"/>
            </a:endParaRPr>
          </a:p>
          <a:p>
            <a:pPr>
              <a:lnSpc>
                <a:spcPts val="1425"/>
              </a:lnSpc>
              <a:buNone/>
            </a:pPr>
            <a:r>
              <a:rPr lang="en-US" altLang="zh-CN" sz="1400" b="1" dirty="0">
                <a:solidFill>
                  <a:srgbClr val="000080"/>
                </a:solidFill>
                <a:effectLst/>
                <a:latin typeface="Consolas" panose="020B0609020204030204" pitchFamily="49" charset="0"/>
              </a:rPr>
              <a:t>Distance-based Method Results:</a:t>
            </a:r>
            <a:endParaRPr lang="en-US" altLang="zh-CN" sz="1400" b="0" dirty="0">
              <a:solidFill>
                <a:srgbClr val="000000"/>
              </a:solidFill>
              <a:effectLst/>
              <a:latin typeface="Consolas" panose="020B0609020204030204" pitchFamily="49" charset="0"/>
            </a:endParaRPr>
          </a:p>
          <a:p>
            <a:pPr>
              <a:lnSpc>
                <a:spcPts val="1425"/>
              </a:lnSpc>
              <a:buNone/>
            </a:pPr>
            <a:r>
              <a:rPr lang="en-US" altLang="zh-CN" sz="1400" b="0" dirty="0">
                <a:solidFill>
                  <a:srgbClr val="000000"/>
                </a:solidFill>
                <a:effectLst/>
                <a:latin typeface="Consolas" panose="020B0609020204030204" pitchFamily="49" charset="0"/>
              </a:rPr>
              <a:t>• Outliers detected: 100 (1.00% of dataset)</a:t>
            </a:r>
          </a:p>
          <a:p>
            <a:pPr>
              <a:lnSpc>
                <a:spcPts val="1425"/>
              </a:lnSpc>
              <a:buNone/>
            </a:pPr>
            <a:r>
              <a:rPr lang="en-US" altLang="zh-CN" sz="1400" b="0" dirty="0">
                <a:solidFill>
                  <a:srgbClr val="000000"/>
                </a:solidFill>
                <a:effectLst/>
                <a:latin typeface="Consolas" panose="020B0609020204030204" pitchFamily="49" charset="0"/>
              </a:rPr>
              <a:t>• Method: Global distance-based detection</a:t>
            </a:r>
          </a:p>
          <a:p>
            <a:pPr>
              <a:lnSpc>
                <a:spcPts val="1425"/>
              </a:lnSpc>
              <a:buNone/>
            </a:pPr>
            <a:r>
              <a:rPr lang="en-US" altLang="zh-CN" sz="1400" b="0" dirty="0">
                <a:solidFill>
                  <a:srgbClr val="000000"/>
                </a:solidFill>
                <a:effectLst/>
                <a:latin typeface="Consolas" panose="020B0609020204030204" pitchFamily="49" charset="0"/>
              </a:rPr>
              <a:t>• Type: Inliers: 9,900 (99.00%)</a:t>
            </a:r>
            <a:br>
              <a:rPr lang="en-US" altLang="zh-CN" sz="1400" b="0" dirty="0">
                <a:solidFill>
                  <a:srgbClr val="000000"/>
                </a:solidFill>
                <a:effectLst/>
                <a:latin typeface="Consolas" panose="020B0609020204030204" pitchFamily="49" charset="0"/>
              </a:rPr>
            </a:br>
            <a:endParaRPr lang="en-US" altLang="zh-CN" sz="1400" b="0" dirty="0">
              <a:solidFill>
                <a:srgbClr val="000000"/>
              </a:solidFill>
              <a:effectLst/>
              <a:latin typeface="Consolas" panose="020B0609020204030204" pitchFamily="49" charset="0"/>
            </a:endParaRPr>
          </a:p>
          <a:p>
            <a:pPr>
              <a:lnSpc>
                <a:spcPts val="1425"/>
              </a:lnSpc>
              <a:buNone/>
            </a:pPr>
            <a:r>
              <a:rPr lang="en-US" altLang="zh-CN" sz="1400" b="1" dirty="0">
                <a:solidFill>
                  <a:srgbClr val="000080"/>
                </a:solidFill>
                <a:effectLst/>
                <a:latin typeface="Consolas" panose="020B0609020204030204" pitchFamily="49" charset="0"/>
              </a:rPr>
              <a:t>High-Confidence Outliers:</a:t>
            </a:r>
            <a:endParaRPr lang="en-US" altLang="zh-CN" sz="1400" b="0" dirty="0">
              <a:solidFill>
                <a:srgbClr val="000000"/>
              </a:solidFill>
              <a:effectLst/>
              <a:latin typeface="Consolas" panose="020B0609020204030204" pitchFamily="49" charset="0"/>
            </a:endParaRPr>
          </a:p>
          <a:p>
            <a:pPr>
              <a:lnSpc>
                <a:spcPts val="1425"/>
              </a:lnSpc>
              <a:buNone/>
            </a:pPr>
            <a:r>
              <a:rPr lang="en-US" altLang="zh-CN" sz="1400" b="0" dirty="0">
                <a:solidFill>
                  <a:srgbClr val="000000"/>
                </a:solidFill>
                <a:effectLst/>
                <a:latin typeface="Consolas" panose="020B0609020204030204" pitchFamily="49" charset="0"/>
              </a:rPr>
              <a:t>• Common outliers (both methods): 55 (0.550%)</a:t>
            </a:r>
          </a:p>
          <a:p>
            <a:pPr>
              <a:lnSpc>
                <a:spcPts val="1425"/>
              </a:lnSpc>
              <a:buNone/>
            </a:pPr>
            <a:r>
              <a:rPr lang="en-US" altLang="zh-CN" sz="1400" b="0" dirty="0">
                <a:solidFill>
                  <a:srgbClr val="000000"/>
                </a:solidFill>
                <a:effectLst/>
                <a:latin typeface="Consolas" panose="020B0609020204030204" pitchFamily="49" charset="0"/>
              </a:rPr>
              <a:t>• Agreement rate: 55%</a:t>
            </a:r>
          </a:p>
          <a:p>
            <a:pPr>
              <a:lnSpc>
                <a:spcPts val="1425"/>
              </a:lnSpc>
              <a:buNone/>
            </a:pPr>
            <a:r>
              <a:rPr lang="en-US" altLang="zh-CN" sz="1400" b="0" dirty="0">
                <a:solidFill>
                  <a:srgbClr val="000000"/>
                </a:solidFill>
                <a:effectLst/>
                <a:latin typeface="Consolas" panose="020B0609020204030204" pitchFamily="49" charset="0"/>
              </a:rPr>
              <a:t>• Interpretation: Highest confidence, detected by both methods</a:t>
            </a:r>
          </a:p>
          <a:p>
            <a:pPr>
              <a:lnSpc>
                <a:spcPts val="1425"/>
              </a:lnSpc>
              <a:buNone/>
            </a:pPr>
            <a:endParaRPr lang="en-US" altLang="zh-CN" sz="1400" b="0" dirty="0">
              <a:solidFill>
                <a:srgbClr val="000000"/>
              </a:solidFill>
              <a:effectLst/>
              <a:latin typeface="Consolas" panose="020B0609020204030204" pitchFamily="49" charset="0"/>
            </a:endParaRPr>
          </a:p>
          <a:p>
            <a:pPr>
              <a:lnSpc>
                <a:spcPts val="1425"/>
              </a:lnSpc>
              <a:buNone/>
            </a:pPr>
            <a:r>
              <a:rPr lang="en-US" altLang="zh-CN" sz="1400" b="1" dirty="0">
                <a:solidFill>
                  <a:srgbClr val="000080"/>
                </a:solidFill>
                <a:effectLst/>
                <a:latin typeface="Consolas" panose="020B0609020204030204" pitchFamily="49" charset="0"/>
              </a:rPr>
              <a:t>Method-Specific Outliers:</a:t>
            </a:r>
            <a:endParaRPr lang="en-US" altLang="zh-CN" sz="1400" b="0" dirty="0">
              <a:solidFill>
                <a:srgbClr val="000000"/>
              </a:solidFill>
              <a:effectLst/>
              <a:latin typeface="Consolas" panose="020B0609020204030204" pitchFamily="49" charset="0"/>
            </a:endParaRPr>
          </a:p>
          <a:p>
            <a:pPr>
              <a:lnSpc>
                <a:spcPts val="1425"/>
              </a:lnSpc>
              <a:buNone/>
            </a:pPr>
            <a:r>
              <a:rPr lang="en-US" altLang="zh-CN" sz="1400" b="0" dirty="0">
                <a:solidFill>
                  <a:srgbClr val="000000"/>
                </a:solidFill>
                <a:effectLst/>
                <a:latin typeface="Consolas" panose="020B0609020204030204" pitchFamily="49" charset="0"/>
              </a:rPr>
              <a:t>• LOF-only outliers: 45 (0.45%)</a:t>
            </a:r>
          </a:p>
          <a:p>
            <a:pPr>
              <a:lnSpc>
                <a:spcPts val="1425"/>
              </a:lnSpc>
              <a:buNone/>
            </a:pPr>
            <a:r>
              <a:rPr lang="en-US" altLang="zh-CN" sz="1400" b="0" dirty="0">
                <a:solidFill>
                  <a:srgbClr val="000000"/>
                </a:solidFill>
                <a:effectLst/>
                <a:latin typeface="Consolas" panose="020B0609020204030204" pitchFamily="49" charset="0"/>
              </a:rPr>
              <a:t>• Distance-only outliers: 45 (0.45%)</a:t>
            </a:r>
            <a:br>
              <a:rPr lang="en-US" altLang="zh-CN" sz="1400" b="0" dirty="0">
                <a:solidFill>
                  <a:srgbClr val="000000"/>
                </a:solidFill>
                <a:effectLst/>
                <a:latin typeface="Consolas" panose="020B0609020204030204" pitchFamily="49" charset="0"/>
              </a:rPr>
            </a:br>
            <a:endParaRPr lang="en-US" altLang="zh-CN" sz="14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7635002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D17FF-B998-D923-AE37-1F9CA01BB2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E39328-A6A7-B4B5-7C41-47C84EF52B1C}"/>
              </a:ext>
            </a:extLst>
          </p:cNvPr>
          <p:cNvSpPr>
            <a:spLocks noGrp="1"/>
          </p:cNvSpPr>
          <p:nvPr>
            <p:ph type="title"/>
          </p:nvPr>
        </p:nvSpPr>
        <p:spPr>
          <a:xfrm>
            <a:off x="298174" y="354885"/>
            <a:ext cx="8521148" cy="768822"/>
          </a:xfrm>
        </p:spPr>
        <p:txBody>
          <a:bodyPr/>
          <a:lstStyle/>
          <a:p>
            <a:r>
              <a:rPr lang="en-CA" sz="2800" dirty="0"/>
              <a:t>Modeling - Outlier Detection Evaluate results</a:t>
            </a:r>
          </a:p>
        </p:txBody>
      </p:sp>
      <p:sp>
        <p:nvSpPr>
          <p:cNvPr id="5" name="Slide Number Placeholder 4">
            <a:extLst>
              <a:ext uri="{FF2B5EF4-FFF2-40B4-BE49-F238E27FC236}">
                <a16:creationId xmlns:a16="http://schemas.microsoft.com/office/drawing/2014/main" id="{DC0839AE-7088-F95F-56FC-B0B8A201F85F}"/>
              </a:ext>
            </a:extLst>
          </p:cNvPr>
          <p:cNvSpPr>
            <a:spLocks noGrp="1"/>
          </p:cNvSpPr>
          <p:nvPr>
            <p:ph type="sldNum" sz="quarter" idx="19"/>
          </p:nvPr>
        </p:nvSpPr>
        <p:spPr>
          <a:xfrm>
            <a:off x="111972" y="6373091"/>
            <a:ext cx="497627" cy="365126"/>
          </a:xfrm>
        </p:spPr>
        <p:txBody>
          <a:bodyPr/>
          <a:lstStyle/>
          <a:p>
            <a:fld id="{DEF3F5F5-7776-394F-A41F-3BAFC9CC9F8E}" type="slidenum">
              <a:rPr lang="en-US" smtClean="0"/>
              <a:pPr/>
              <a:t>18</a:t>
            </a:fld>
            <a:endParaRPr lang="en-US" dirty="0"/>
          </a:p>
        </p:txBody>
      </p:sp>
      <p:pic>
        <p:nvPicPr>
          <p:cNvPr id="6" name="图片 5">
            <a:extLst>
              <a:ext uri="{FF2B5EF4-FFF2-40B4-BE49-F238E27FC236}">
                <a16:creationId xmlns:a16="http://schemas.microsoft.com/office/drawing/2014/main" id="{2358877E-F034-1022-6BA4-43BC5B936400}"/>
              </a:ext>
            </a:extLst>
          </p:cNvPr>
          <p:cNvPicPr>
            <a:picLocks noChangeAspect="1"/>
          </p:cNvPicPr>
          <p:nvPr/>
        </p:nvPicPr>
        <p:blipFill>
          <a:blip r:embed="rId3"/>
          <a:stretch>
            <a:fillRect/>
          </a:stretch>
        </p:blipFill>
        <p:spPr>
          <a:xfrm>
            <a:off x="4739871" y="4364610"/>
            <a:ext cx="4131981" cy="1783910"/>
          </a:xfrm>
          <a:prstGeom prst="rect">
            <a:avLst/>
          </a:prstGeom>
        </p:spPr>
      </p:pic>
      <p:sp>
        <p:nvSpPr>
          <p:cNvPr id="10" name="文本框 9">
            <a:extLst>
              <a:ext uri="{FF2B5EF4-FFF2-40B4-BE49-F238E27FC236}">
                <a16:creationId xmlns:a16="http://schemas.microsoft.com/office/drawing/2014/main" id="{9FCA751A-3535-83E2-AA59-A115D9567EB4}"/>
              </a:ext>
            </a:extLst>
          </p:cNvPr>
          <p:cNvSpPr txBox="1"/>
          <p:nvPr/>
        </p:nvSpPr>
        <p:spPr>
          <a:xfrm>
            <a:off x="298174" y="959093"/>
            <a:ext cx="4359897" cy="4939814"/>
          </a:xfrm>
          <a:prstGeom prst="rect">
            <a:avLst/>
          </a:prstGeom>
          <a:noFill/>
        </p:spPr>
        <p:txBody>
          <a:bodyPr wrap="square">
            <a:spAutoFit/>
          </a:bodyPr>
          <a:lstStyle/>
          <a:p>
            <a:pPr>
              <a:lnSpc>
                <a:spcPts val="1425"/>
              </a:lnSpc>
              <a:buNone/>
            </a:pPr>
            <a:r>
              <a:rPr lang="en-US" altLang="zh-CN" sz="1200" b="1" dirty="0">
                <a:solidFill>
                  <a:srgbClr val="000080"/>
                </a:solidFill>
                <a:effectLst/>
                <a:latin typeface="Consolas" panose="020B0609020204030204" pitchFamily="49" charset="0"/>
              </a:rPr>
              <a:t>Finding 1: High-Confidence Outliers</a:t>
            </a:r>
            <a:endParaRPr lang="en-US" altLang="zh-CN" sz="1200" b="0" dirty="0">
              <a:solidFill>
                <a:srgbClr val="000000"/>
              </a:solidFill>
              <a:effectLst/>
              <a:latin typeface="Consolas" panose="020B0609020204030204" pitchFamily="49" charset="0"/>
            </a:endParaRPr>
          </a:p>
          <a:p>
            <a:pPr>
              <a:lnSpc>
                <a:spcPts val="1425"/>
              </a:lnSpc>
              <a:buNone/>
            </a:pPr>
            <a:r>
              <a:rPr lang="en-US" altLang="zh-CN" sz="1200" b="0" dirty="0">
                <a:solidFill>
                  <a:srgbClr val="000000"/>
                </a:solidFill>
                <a:effectLst/>
                <a:latin typeface="Consolas" panose="020B0609020204030204" pitchFamily="49" charset="0"/>
              </a:rPr>
              <a:t>• 55 outliers detected by both methods (0.55% of dataset)</a:t>
            </a:r>
          </a:p>
          <a:p>
            <a:pPr>
              <a:lnSpc>
                <a:spcPts val="1425"/>
              </a:lnSpc>
              <a:buNone/>
            </a:pPr>
            <a:r>
              <a:rPr lang="en-US" altLang="zh-CN" sz="1200" b="0" dirty="0">
                <a:solidFill>
                  <a:srgbClr val="000000"/>
                </a:solidFill>
                <a:effectLst/>
                <a:latin typeface="Consolas" panose="020B0609020204030204" pitchFamily="49" charset="0"/>
              </a:rPr>
              <a:t>• Require special attention due to high-risk characteristics</a:t>
            </a:r>
            <a:br>
              <a:rPr lang="en-US" altLang="zh-CN" sz="1200" b="0" dirty="0">
                <a:solidFill>
                  <a:srgbClr val="000000"/>
                </a:solidFill>
                <a:effectLst/>
                <a:latin typeface="Consolas" panose="020B0609020204030204" pitchFamily="49" charset="0"/>
              </a:rPr>
            </a:br>
            <a:endParaRPr lang="en-US" altLang="zh-CN" sz="1200" b="0" dirty="0">
              <a:solidFill>
                <a:srgbClr val="000000"/>
              </a:solidFill>
              <a:effectLst/>
              <a:latin typeface="Consolas" panose="020B0609020204030204" pitchFamily="49" charset="0"/>
            </a:endParaRPr>
          </a:p>
          <a:p>
            <a:pPr>
              <a:lnSpc>
                <a:spcPts val="1425"/>
              </a:lnSpc>
              <a:buNone/>
            </a:pPr>
            <a:r>
              <a:rPr lang="en-US" altLang="zh-CN" sz="1200" b="1" dirty="0">
                <a:solidFill>
                  <a:srgbClr val="000080"/>
                </a:solidFill>
                <a:effectLst/>
                <a:latin typeface="Consolas" panose="020B0609020204030204" pitchFamily="49" charset="0"/>
              </a:rPr>
              <a:t>Finding 2: Accident Rate Comparison</a:t>
            </a:r>
            <a:endParaRPr lang="en-US" altLang="zh-CN" sz="1200" b="0" dirty="0">
              <a:solidFill>
                <a:srgbClr val="000000"/>
              </a:solidFill>
              <a:effectLst/>
              <a:latin typeface="Consolas" panose="020B0609020204030204" pitchFamily="49" charset="0"/>
            </a:endParaRPr>
          </a:p>
          <a:p>
            <a:pPr>
              <a:lnSpc>
                <a:spcPts val="1425"/>
              </a:lnSpc>
              <a:buNone/>
            </a:pPr>
            <a:r>
              <a:rPr lang="en-US" altLang="zh-CN" sz="1200" b="0" dirty="0">
                <a:solidFill>
                  <a:srgbClr val="000000"/>
                </a:solidFill>
                <a:effectLst/>
                <a:latin typeface="Consolas" panose="020B0609020204030204" pitchFamily="49" charset="0"/>
              </a:rPr>
              <a:t>• Outliers: 38.2% accident rate</a:t>
            </a:r>
          </a:p>
          <a:p>
            <a:pPr>
              <a:lnSpc>
                <a:spcPts val="1425"/>
              </a:lnSpc>
              <a:buNone/>
            </a:pPr>
            <a:r>
              <a:rPr lang="en-US" altLang="zh-CN" sz="1200" b="0" dirty="0">
                <a:solidFill>
                  <a:srgbClr val="000000"/>
                </a:solidFill>
                <a:effectLst/>
                <a:latin typeface="Consolas" panose="020B0609020204030204" pitchFamily="49" charset="0"/>
              </a:rPr>
              <a:t>• Normal cases: 1.7% accident rate</a:t>
            </a:r>
          </a:p>
          <a:p>
            <a:pPr>
              <a:lnSpc>
                <a:spcPts val="1425"/>
              </a:lnSpc>
              <a:buNone/>
            </a:pPr>
            <a:r>
              <a:rPr lang="en-US" altLang="zh-CN" sz="1200" b="0" dirty="0">
                <a:solidFill>
                  <a:srgbClr val="000000"/>
                </a:solidFill>
                <a:effectLst/>
                <a:latin typeface="Consolas" panose="020B0609020204030204" pitchFamily="49" charset="0"/>
              </a:rPr>
              <a:t>• Difference: 36.5 percentage points</a:t>
            </a:r>
          </a:p>
          <a:p>
            <a:pPr>
              <a:lnSpc>
                <a:spcPts val="1425"/>
              </a:lnSpc>
              <a:buNone/>
            </a:pPr>
            <a:r>
              <a:rPr lang="en-US" altLang="zh-CN" sz="1200" b="0" dirty="0">
                <a:solidFill>
                  <a:srgbClr val="000000"/>
                </a:solidFill>
                <a:effectLst/>
                <a:latin typeface="Consolas" panose="020B0609020204030204" pitchFamily="49" charset="0"/>
              </a:rPr>
              <a:t>• Ratio: Outliers are approximately 22.5× more likely to be involved in accidents</a:t>
            </a:r>
            <a:br>
              <a:rPr lang="en-US" altLang="zh-CN" sz="1200" b="0" dirty="0">
                <a:solidFill>
                  <a:srgbClr val="000000"/>
                </a:solidFill>
                <a:effectLst/>
                <a:latin typeface="Consolas" panose="020B0609020204030204" pitchFamily="49" charset="0"/>
              </a:rPr>
            </a:br>
            <a:endParaRPr lang="en-US" altLang="zh-CN" sz="1200" b="0" dirty="0">
              <a:solidFill>
                <a:srgbClr val="000000"/>
              </a:solidFill>
              <a:effectLst/>
              <a:latin typeface="Consolas" panose="020B0609020204030204" pitchFamily="49" charset="0"/>
            </a:endParaRPr>
          </a:p>
          <a:p>
            <a:pPr>
              <a:lnSpc>
                <a:spcPts val="1425"/>
              </a:lnSpc>
              <a:buNone/>
            </a:pPr>
            <a:r>
              <a:rPr lang="en-US" altLang="zh-CN" sz="1200" b="1" dirty="0">
                <a:solidFill>
                  <a:srgbClr val="000080"/>
                </a:solidFill>
                <a:effectLst/>
                <a:latin typeface="Consolas" panose="020B0609020204030204" pitchFamily="49" charset="0"/>
              </a:rPr>
              <a:t>Finding 3: Alcohol Involvement</a:t>
            </a:r>
            <a:endParaRPr lang="en-US" altLang="zh-CN" sz="1200" b="0" dirty="0">
              <a:solidFill>
                <a:srgbClr val="000000"/>
              </a:solidFill>
              <a:effectLst/>
              <a:latin typeface="Consolas" panose="020B0609020204030204" pitchFamily="49" charset="0"/>
            </a:endParaRPr>
          </a:p>
          <a:p>
            <a:pPr>
              <a:lnSpc>
                <a:spcPts val="1425"/>
              </a:lnSpc>
              <a:buNone/>
            </a:pPr>
            <a:r>
              <a:rPr lang="en-US" altLang="zh-CN" sz="1200" b="0" dirty="0">
                <a:solidFill>
                  <a:srgbClr val="000000"/>
                </a:solidFill>
                <a:effectLst/>
                <a:latin typeface="Consolas" panose="020B0609020204030204" pitchFamily="49" charset="0"/>
              </a:rPr>
              <a:t>• Outliers: 1.8% alcohol involvement</a:t>
            </a:r>
          </a:p>
          <a:p>
            <a:pPr>
              <a:lnSpc>
                <a:spcPts val="1425"/>
              </a:lnSpc>
              <a:buNone/>
            </a:pPr>
            <a:r>
              <a:rPr lang="en-US" altLang="zh-CN" sz="1200" b="0" dirty="0">
                <a:solidFill>
                  <a:srgbClr val="000000"/>
                </a:solidFill>
                <a:effectLst/>
                <a:latin typeface="Consolas" panose="020B0609020204030204" pitchFamily="49" charset="0"/>
              </a:rPr>
              <a:t>• Normal cases: 0.0% alcohol involvement</a:t>
            </a:r>
          </a:p>
          <a:p>
            <a:pPr>
              <a:lnSpc>
                <a:spcPts val="1425"/>
              </a:lnSpc>
              <a:buNone/>
            </a:pPr>
            <a:r>
              <a:rPr lang="en-US" altLang="zh-CN" sz="1200" b="0" dirty="0">
                <a:solidFill>
                  <a:srgbClr val="000000"/>
                </a:solidFill>
                <a:effectLst/>
                <a:latin typeface="Consolas" panose="020B0609020204030204" pitchFamily="49" charset="0"/>
              </a:rPr>
              <a:t>• Difference: 1.8 percentage points</a:t>
            </a:r>
          </a:p>
          <a:p>
            <a:pPr>
              <a:lnSpc>
                <a:spcPts val="1425"/>
              </a:lnSpc>
              <a:buNone/>
            </a:pPr>
            <a:r>
              <a:rPr lang="en-US" altLang="zh-CN" sz="1200" b="0" dirty="0">
                <a:solidFill>
                  <a:srgbClr val="000000"/>
                </a:solidFill>
                <a:effectLst/>
                <a:latin typeface="Consolas" panose="020B0609020204030204" pitchFamily="49" charset="0"/>
              </a:rPr>
              <a:t>• Interpretation: Alcohol-related violations more likely to be flagged as outliers</a:t>
            </a:r>
            <a:br>
              <a:rPr lang="en-US" altLang="zh-CN" sz="1200" b="0" dirty="0">
                <a:solidFill>
                  <a:srgbClr val="000000"/>
                </a:solidFill>
                <a:effectLst/>
                <a:latin typeface="Consolas" panose="020B0609020204030204" pitchFamily="49" charset="0"/>
              </a:rPr>
            </a:br>
            <a:endParaRPr lang="en-US" altLang="zh-CN" sz="1200" b="0" dirty="0">
              <a:solidFill>
                <a:srgbClr val="000000"/>
              </a:solidFill>
              <a:effectLst/>
              <a:latin typeface="Consolas" panose="020B0609020204030204" pitchFamily="49" charset="0"/>
            </a:endParaRPr>
          </a:p>
          <a:p>
            <a:pPr>
              <a:lnSpc>
                <a:spcPts val="1425"/>
              </a:lnSpc>
              <a:buNone/>
            </a:pPr>
            <a:r>
              <a:rPr lang="en-US" altLang="zh-CN" sz="1200" b="1" dirty="0">
                <a:solidFill>
                  <a:srgbClr val="000080"/>
                </a:solidFill>
                <a:effectLst/>
                <a:latin typeface="Consolas" panose="020B0609020204030204" pitchFamily="49" charset="0"/>
              </a:rPr>
              <a:t>Finding 4: Method Agreement</a:t>
            </a:r>
            <a:endParaRPr lang="en-US" altLang="zh-CN" sz="1200" b="0" dirty="0">
              <a:solidFill>
                <a:srgbClr val="000000"/>
              </a:solidFill>
              <a:effectLst/>
              <a:latin typeface="Consolas" panose="020B0609020204030204" pitchFamily="49" charset="0"/>
            </a:endParaRPr>
          </a:p>
          <a:p>
            <a:pPr>
              <a:lnSpc>
                <a:spcPts val="1425"/>
              </a:lnSpc>
              <a:buNone/>
            </a:pPr>
            <a:r>
              <a:rPr lang="en-US" altLang="zh-CN" sz="1200" b="0" dirty="0">
                <a:solidFill>
                  <a:srgbClr val="000000"/>
                </a:solidFill>
                <a:effectLst/>
                <a:latin typeface="Consolas" panose="020B0609020204030204" pitchFamily="49" charset="0"/>
              </a:rPr>
              <a:t>• Agreement rate: 55% between LOF and distance-based methods</a:t>
            </a:r>
          </a:p>
          <a:p>
            <a:pPr>
              <a:lnSpc>
                <a:spcPts val="1425"/>
              </a:lnSpc>
              <a:buNone/>
            </a:pPr>
            <a:r>
              <a:rPr lang="en-US" altLang="zh-CN" sz="1200" b="0" dirty="0">
                <a:solidFill>
                  <a:srgbClr val="000000"/>
                </a:solidFill>
                <a:effectLst/>
                <a:latin typeface="Consolas" panose="020B0609020204030204" pitchFamily="49" charset="0"/>
              </a:rPr>
              <a:t>• Both methods detected 100 outliers each (1.00% of dataset)</a:t>
            </a:r>
          </a:p>
          <a:p>
            <a:pPr>
              <a:lnSpc>
                <a:spcPts val="1425"/>
              </a:lnSpc>
              <a:buNone/>
            </a:pPr>
            <a:r>
              <a:rPr lang="en-US" altLang="zh-CN" sz="1200" b="0" dirty="0">
                <a:solidFill>
                  <a:srgbClr val="000000"/>
                </a:solidFill>
                <a:effectLst/>
                <a:latin typeface="Consolas" panose="020B0609020204030204" pitchFamily="49" charset="0"/>
              </a:rPr>
              <a:t>• Interpretation: High confidence in outlier detection results</a:t>
            </a:r>
          </a:p>
        </p:txBody>
      </p:sp>
      <p:pic>
        <p:nvPicPr>
          <p:cNvPr id="12" name="图片 11">
            <a:extLst>
              <a:ext uri="{FF2B5EF4-FFF2-40B4-BE49-F238E27FC236}">
                <a16:creationId xmlns:a16="http://schemas.microsoft.com/office/drawing/2014/main" id="{18FC6310-C9C0-6879-2138-E4F430F0DEF3}"/>
              </a:ext>
            </a:extLst>
          </p:cNvPr>
          <p:cNvPicPr>
            <a:picLocks noChangeAspect="1"/>
          </p:cNvPicPr>
          <p:nvPr/>
        </p:nvPicPr>
        <p:blipFill>
          <a:blip r:embed="rId4"/>
          <a:stretch>
            <a:fillRect/>
          </a:stretch>
        </p:blipFill>
        <p:spPr>
          <a:xfrm>
            <a:off x="4658071" y="1013690"/>
            <a:ext cx="4299852" cy="1590573"/>
          </a:xfrm>
          <a:prstGeom prst="rect">
            <a:avLst/>
          </a:prstGeom>
        </p:spPr>
      </p:pic>
      <p:pic>
        <p:nvPicPr>
          <p:cNvPr id="14" name="图片 13">
            <a:extLst>
              <a:ext uri="{FF2B5EF4-FFF2-40B4-BE49-F238E27FC236}">
                <a16:creationId xmlns:a16="http://schemas.microsoft.com/office/drawing/2014/main" id="{43D682E3-625E-B681-1A9E-12FFF09496A5}"/>
              </a:ext>
            </a:extLst>
          </p:cNvPr>
          <p:cNvPicPr>
            <a:picLocks noChangeAspect="1"/>
          </p:cNvPicPr>
          <p:nvPr/>
        </p:nvPicPr>
        <p:blipFill>
          <a:blip r:embed="rId5"/>
          <a:stretch>
            <a:fillRect/>
          </a:stretch>
        </p:blipFill>
        <p:spPr>
          <a:xfrm>
            <a:off x="4739871" y="2660854"/>
            <a:ext cx="4278097" cy="1703756"/>
          </a:xfrm>
          <a:prstGeom prst="rect">
            <a:avLst/>
          </a:prstGeom>
        </p:spPr>
      </p:pic>
    </p:spTree>
    <p:extLst>
      <p:ext uri="{BB962C8B-B14F-4D97-AF65-F5344CB8AC3E}">
        <p14:creationId xmlns:p14="http://schemas.microsoft.com/office/powerpoint/2010/main" val="34017886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047CC-AADA-D129-79E3-7F913B87EA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224AEA-5D47-B833-39B1-4FF2936359BB}"/>
              </a:ext>
            </a:extLst>
          </p:cNvPr>
          <p:cNvSpPr>
            <a:spLocks noGrp="1"/>
          </p:cNvSpPr>
          <p:nvPr>
            <p:ph type="title"/>
          </p:nvPr>
        </p:nvSpPr>
        <p:spPr>
          <a:xfrm>
            <a:off x="324678" y="215185"/>
            <a:ext cx="8521148" cy="768822"/>
          </a:xfrm>
        </p:spPr>
        <p:txBody>
          <a:bodyPr/>
          <a:lstStyle/>
          <a:p>
            <a:r>
              <a:rPr lang="en-CA" sz="2800" dirty="0"/>
              <a:t>Accuracy Analysis</a:t>
            </a:r>
          </a:p>
        </p:txBody>
      </p:sp>
      <p:sp>
        <p:nvSpPr>
          <p:cNvPr id="3" name="Text Placeholder 2">
            <a:extLst>
              <a:ext uri="{FF2B5EF4-FFF2-40B4-BE49-F238E27FC236}">
                <a16:creationId xmlns:a16="http://schemas.microsoft.com/office/drawing/2014/main" id="{B4FADC84-2A70-E29A-9EC9-4A9D92A959A3}"/>
              </a:ext>
            </a:extLst>
          </p:cNvPr>
          <p:cNvSpPr>
            <a:spLocks noGrp="1"/>
          </p:cNvSpPr>
          <p:nvPr>
            <p:ph type="body" sz="quarter" idx="15"/>
          </p:nvPr>
        </p:nvSpPr>
        <p:spPr>
          <a:xfrm>
            <a:off x="324678" y="1057058"/>
            <a:ext cx="8521149" cy="4913421"/>
          </a:xfrm>
        </p:spPr>
        <p:txBody>
          <a:bodyPr>
            <a:noAutofit/>
          </a:bodyPr>
          <a:lstStyle/>
          <a:p>
            <a:pPr>
              <a:spcBef>
                <a:spcPts val="300"/>
              </a:spcBef>
            </a:pPr>
            <a:r>
              <a:rPr lang="en-CA" sz="1900" b="1" dirty="0"/>
              <a:t>Classification</a:t>
            </a:r>
          </a:p>
          <a:p>
            <a:pPr marL="0" indent="0">
              <a:spcBef>
                <a:spcPts val="300"/>
              </a:spcBef>
              <a:buNone/>
            </a:pPr>
            <a:r>
              <a:rPr lang="en-CA" sz="1900" dirty="0"/>
              <a:t>	- Target: 70% | Achieved: 57.59%</a:t>
            </a:r>
          </a:p>
          <a:p>
            <a:pPr marL="0" indent="0">
              <a:spcBef>
                <a:spcPts val="300"/>
              </a:spcBef>
              <a:buNone/>
            </a:pPr>
            <a:r>
              <a:rPr lang="en-CA" sz="1900" dirty="0"/>
              <a:t>	 - Assessment: Moderate, better than random</a:t>
            </a:r>
          </a:p>
          <a:p>
            <a:pPr marL="0" indent="0">
              <a:spcBef>
                <a:spcPts val="300"/>
              </a:spcBef>
              <a:buNone/>
            </a:pPr>
            <a:endParaRPr lang="en-CA" sz="1900" dirty="0"/>
          </a:p>
          <a:p>
            <a:pPr>
              <a:spcBef>
                <a:spcPts val="300"/>
              </a:spcBef>
            </a:pPr>
            <a:r>
              <a:rPr lang="en-CA" sz="1900" b="1" dirty="0"/>
              <a:t>Clustering</a:t>
            </a:r>
          </a:p>
          <a:p>
            <a:pPr marL="0" indent="0">
              <a:spcBef>
                <a:spcPts val="300"/>
              </a:spcBef>
              <a:buNone/>
            </a:pPr>
            <a:r>
              <a:rPr lang="en-CA" sz="1900" dirty="0"/>
              <a:t>	 - Silhouette: 0.212				 - Davies-Bouldin: 1.547</a:t>
            </a:r>
          </a:p>
          <a:p>
            <a:pPr marL="0" indent="0">
              <a:spcBef>
                <a:spcPts val="300"/>
              </a:spcBef>
              <a:buNone/>
            </a:pPr>
            <a:r>
              <a:rPr lang="en-CA" sz="1900" dirty="0"/>
              <a:t>	 - Assessment: Moderate quality</a:t>
            </a:r>
          </a:p>
          <a:p>
            <a:pPr marL="0" indent="0">
              <a:spcBef>
                <a:spcPts val="300"/>
              </a:spcBef>
              <a:buNone/>
            </a:pPr>
            <a:endParaRPr lang="en-CA" sz="1900" dirty="0"/>
          </a:p>
          <a:p>
            <a:pPr>
              <a:spcBef>
                <a:spcPts val="300"/>
              </a:spcBef>
            </a:pPr>
            <a:r>
              <a:rPr lang="en-CA" sz="1900" b="1" dirty="0"/>
              <a:t>Outlier Detection</a:t>
            </a:r>
          </a:p>
          <a:p>
            <a:pPr marL="0" indent="0">
              <a:spcBef>
                <a:spcPts val="300"/>
              </a:spcBef>
              <a:buNone/>
            </a:pPr>
            <a:r>
              <a:rPr lang="en-CA" sz="1900" dirty="0"/>
              <a:t>	 - Agreement: 54.0%				 - Assessment: High confidence</a:t>
            </a:r>
          </a:p>
          <a:p>
            <a:pPr marL="0" indent="0">
              <a:spcBef>
                <a:spcPts val="300"/>
              </a:spcBef>
              <a:buNone/>
            </a:pPr>
            <a:endParaRPr lang="en-CA" sz="1900" dirty="0"/>
          </a:p>
          <a:p>
            <a:pPr>
              <a:spcBef>
                <a:spcPts val="300"/>
              </a:spcBef>
            </a:pPr>
            <a:r>
              <a:rPr lang="en-CA" sz="1900" b="1" dirty="0"/>
              <a:t>Top Features</a:t>
            </a:r>
          </a:p>
          <a:p>
            <a:pPr marL="0" indent="0">
              <a:spcBef>
                <a:spcPts val="300"/>
              </a:spcBef>
              <a:buNone/>
            </a:pPr>
            <a:r>
              <a:rPr lang="en-CA" sz="1900" dirty="0"/>
              <a:t>	1. Contributed To Accident: 37.0%		2. Hour: 17.4%</a:t>
            </a:r>
          </a:p>
          <a:p>
            <a:pPr marL="0" indent="0">
              <a:spcBef>
                <a:spcPts val="300"/>
              </a:spcBef>
              <a:buNone/>
            </a:pPr>
            <a:r>
              <a:rPr lang="en-CA" sz="1900" dirty="0"/>
              <a:t>	3. </a:t>
            </a:r>
            <a:r>
              <a:rPr lang="en-CA" sz="1900" dirty="0" err="1"/>
              <a:t>VehicleAge</a:t>
            </a:r>
            <a:r>
              <a:rPr lang="en-CA" sz="1900" dirty="0"/>
              <a:t>: 16.9%</a:t>
            </a:r>
          </a:p>
          <a:p>
            <a:pPr>
              <a:spcBef>
                <a:spcPts val="300"/>
              </a:spcBef>
            </a:pPr>
            <a:endParaRPr lang="en-CA" sz="1900" dirty="0"/>
          </a:p>
        </p:txBody>
      </p:sp>
      <p:sp>
        <p:nvSpPr>
          <p:cNvPr id="5" name="Slide Number Placeholder 4">
            <a:extLst>
              <a:ext uri="{FF2B5EF4-FFF2-40B4-BE49-F238E27FC236}">
                <a16:creationId xmlns:a16="http://schemas.microsoft.com/office/drawing/2014/main" id="{AD496FCD-9ACD-E01A-5238-7371F487EE45}"/>
              </a:ext>
            </a:extLst>
          </p:cNvPr>
          <p:cNvSpPr>
            <a:spLocks noGrp="1"/>
          </p:cNvSpPr>
          <p:nvPr>
            <p:ph type="sldNum" sz="quarter" idx="19"/>
          </p:nvPr>
        </p:nvSpPr>
        <p:spPr>
          <a:xfrm>
            <a:off x="111972" y="6373091"/>
            <a:ext cx="459527" cy="365126"/>
          </a:xfrm>
        </p:spPr>
        <p:txBody>
          <a:bodyPr/>
          <a:lstStyle/>
          <a:p>
            <a:fld id="{DEF3F5F5-7776-394F-A41F-3BAFC9CC9F8E}" type="slidenum">
              <a:rPr lang="en-US" smtClean="0"/>
              <a:pPr/>
              <a:t>19</a:t>
            </a:fld>
            <a:endParaRPr lang="en-US" dirty="0"/>
          </a:p>
        </p:txBody>
      </p:sp>
    </p:spTree>
    <p:extLst>
      <p:ext uri="{BB962C8B-B14F-4D97-AF65-F5344CB8AC3E}">
        <p14:creationId xmlns:p14="http://schemas.microsoft.com/office/powerpoint/2010/main" val="10667920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3DCB0-A229-4802-A65C-2393D18748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EBEC60-F4B4-5679-E1A1-97640995D506}"/>
              </a:ext>
            </a:extLst>
          </p:cNvPr>
          <p:cNvSpPr>
            <a:spLocks noGrp="1"/>
          </p:cNvSpPr>
          <p:nvPr>
            <p:ph type="title"/>
          </p:nvPr>
        </p:nvSpPr>
        <p:spPr>
          <a:xfrm>
            <a:off x="298174" y="240585"/>
            <a:ext cx="8521148" cy="768822"/>
          </a:xfrm>
        </p:spPr>
        <p:txBody>
          <a:bodyPr/>
          <a:lstStyle/>
          <a:p>
            <a:r>
              <a:rPr lang="en-CA" sz="2800" dirty="0"/>
              <a:t>Expectations &amp; Surprises</a:t>
            </a:r>
          </a:p>
        </p:txBody>
      </p:sp>
      <p:sp>
        <p:nvSpPr>
          <p:cNvPr id="3" name="Text Placeholder 2">
            <a:extLst>
              <a:ext uri="{FF2B5EF4-FFF2-40B4-BE49-F238E27FC236}">
                <a16:creationId xmlns:a16="http://schemas.microsoft.com/office/drawing/2014/main" id="{308B4F2D-D316-5924-FB13-3B0185C8C983}"/>
              </a:ext>
            </a:extLst>
          </p:cNvPr>
          <p:cNvSpPr>
            <a:spLocks noGrp="1"/>
          </p:cNvSpPr>
          <p:nvPr>
            <p:ph type="body" sz="quarter" idx="15"/>
          </p:nvPr>
        </p:nvSpPr>
        <p:spPr>
          <a:xfrm>
            <a:off x="412474" y="1063735"/>
            <a:ext cx="8521149" cy="5013215"/>
          </a:xfrm>
        </p:spPr>
        <p:txBody>
          <a:bodyPr>
            <a:noAutofit/>
          </a:bodyPr>
          <a:lstStyle/>
          <a:p>
            <a:pPr>
              <a:spcBef>
                <a:spcPts val="300"/>
              </a:spcBef>
            </a:pPr>
            <a:r>
              <a:rPr lang="en-CA" sz="2000" b="1" dirty="0"/>
              <a:t>Expectations vs. Results</a:t>
            </a:r>
          </a:p>
          <a:p>
            <a:pPr>
              <a:spcBef>
                <a:spcPts val="300"/>
              </a:spcBef>
            </a:pPr>
            <a:r>
              <a:rPr lang="en-CA" sz="2000" b="1" dirty="0"/>
              <a:t>Classification</a:t>
            </a:r>
          </a:p>
          <a:p>
            <a:pPr marL="0" indent="0">
              <a:spcBef>
                <a:spcPts val="300"/>
              </a:spcBef>
              <a:buNone/>
            </a:pPr>
            <a:r>
              <a:rPr lang="en-CA" sz="2000" dirty="0"/>
              <a:t>	✗ Accuracy below target (57.59% vs 70%)</a:t>
            </a:r>
          </a:p>
          <a:p>
            <a:pPr marL="0" indent="0">
              <a:spcBef>
                <a:spcPts val="300"/>
              </a:spcBef>
              <a:buNone/>
            </a:pPr>
            <a:r>
              <a:rPr lang="en-CA" sz="2000" dirty="0"/>
              <a:t>	✓ Feature importance identified</a:t>
            </a:r>
          </a:p>
          <a:p>
            <a:pPr>
              <a:spcBef>
                <a:spcPts val="300"/>
              </a:spcBef>
            </a:pPr>
            <a:r>
              <a:rPr lang="en-CA" sz="2000" b="1" dirty="0"/>
              <a:t>Clustering</a:t>
            </a:r>
          </a:p>
          <a:p>
            <a:pPr marL="0" indent="0">
              <a:spcBef>
                <a:spcPts val="300"/>
              </a:spcBef>
              <a:buNone/>
            </a:pPr>
            <a:r>
              <a:rPr lang="en-CA" sz="2000" dirty="0"/>
              <a:t>	✓ 4 patterns with geographic/temporal features</a:t>
            </a:r>
          </a:p>
          <a:p>
            <a:pPr marL="0" indent="0">
              <a:spcBef>
                <a:spcPts val="300"/>
              </a:spcBef>
              <a:buNone/>
            </a:pPr>
            <a:r>
              <a:rPr lang="en-CA" sz="2000" dirty="0"/>
              <a:t>	✓ High-risk cluster found (100% accidents)</a:t>
            </a:r>
          </a:p>
          <a:p>
            <a:pPr>
              <a:spcBef>
                <a:spcPts val="300"/>
              </a:spcBef>
            </a:pPr>
            <a:r>
              <a:rPr lang="en-CA" sz="2000" b="1" dirty="0"/>
              <a:t>Outlier Detection</a:t>
            </a:r>
          </a:p>
          <a:p>
            <a:pPr marL="0" indent="0">
              <a:spcBef>
                <a:spcPts val="300"/>
              </a:spcBef>
              <a:buNone/>
            </a:pPr>
            <a:r>
              <a:rPr lang="en-CA" sz="2000" dirty="0"/>
              <a:t>	✓ 54% agreement between methods</a:t>
            </a:r>
          </a:p>
          <a:p>
            <a:pPr marL="0" indent="0">
              <a:spcBef>
                <a:spcPts val="300"/>
              </a:spcBef>
              <a:buNone/>
            </a:pPr>
            <a:r>
              <a:rPr lang="en-CA" sz="2000" dirty="0"/>
              <a:t>	✓ High-risk anomalies identified</a:t>
            </a:r>
          </a:p>
          <a:p>
            <a:pPr>
              <a:spcBef>
                <a:spcPts val="300"/>
              </a:spcBef>
            </a:pPr>
            <a:r>
              <a:rPr lang="en-CA" sz="2000" b="1" dirty="0"/>
              <a:t>Major Surprises</a:t>
            </a:r>
          </a:p>
          <a:p>
            <a:pPr marL="0" indent="0">
              <a:spcBef>
                <a:spcPts val="300"/>
              </a:spcBef>
              <a:buNone/>
            </a:pPr>
            <a:r>
              <a:rPr lang="en-CA" sz="2000" dirty="0"/>
              <a:t>	1. Accident involvement = top factor (37%)</a:t>
            </a:r>
          </a:p>
          <a:p>
            <a:pPr marL="0" indent="0">
              <a:spcBef>
                <a:spcPts val="300"/>
              </a:spcBef>
              <a:buNone/>
            </a:pPr>
            <a:r>
              <a:rPr lang="en-CA" sz="2000" dirty="0"/>
              <a:t>	2. Cluster 3: 100% accident rate</a:t>
            </a:r>
          </a:p>
          <a:p>
            <a:pPr marL="0" indent="0">
              <a:spcBef>
                <a:spcPts val="300"/>
              </a:spcBef>
              <a:buNone/>
            </a:pPr>
            <a:r>
              <a:rPr lang="en-CA" sz="2000" dirty="0"/>
              <a:t>	3. Outliers: 40.7% accident rate (24x higher)</a:t>
            </a:r>
          </a:p>
          <a:p>
            <a:pPr>
              <a:spcBef>
                <a:spcPts val="300"/>
              </a:spcBef>
            </a:pPr>
            <a:endParaRPr lang="en-CA" sz="2000" dirty="0"/>
          </a:p>
        </p:txBody>
      </p:sp>
      <p:sp>
        <p:nvSpPr>
          <p:cNvPr id="5" name="Slide Number Placeholder 4">
            <a:extLst>
              <a:ext uri="{FF2B5EF4-FFF2-40B4-BE49-F238E27FC236}">
                <a16:creationId xmlns:a16="http://schemas.microsoft.com/office/drawing/2014/main" id="{F21CE2D5-1C89-EB72-3BB9-C7B707773197}"/>
              </a:ext>
            </a:extLst>
          </p:cNvPr>
          <p:cNvSpPr>
            <a:spLocks noGrp="1"/>
          </p:cNvSpPr>
          <p:nvPr>
            <p:ph type="sldNum" sz="quarter" idx="19"/>
          </p:nvPr>
        </p:nvSpPr>
        <p:spPr>
          <a:xfrm>
            <a:off x="111972" y="6373091"/>
            <a:ext cx="465877" cy="365126"/>
          </a:xfrm>
        </p:spPr>
        <p:txBody>
          <a:bodyPr/>
          <a:lstStyle/>
          <a:p>
            <a:fld id="{DEF3F5F5-7776-394F-A41F-3BAFC9CC9F8E}" type="slidenum">
              <a:rPr lang="en-US" smtClean="0"/>
              <a:pPr/>
              <a:t>20</a:t>
            </a:fld>
            <a:endParaRPr lang="en-US" dirty="0"/>
          </a:p>
        </p:txBody>
      </p:sp>
    </p:spTree>
    <p:extLst>
      <p:ext uri="{BB962C8B-B14F-4D97-AF65-F5344CB8AC3E}">
        <p14:creationId xmlns:p14="http://schemas.microsoft.com/office/powerpoint/2010/main" val="3019384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130C6-A661-C637-F8D6-C73B1C330D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87D93D-3303-C5C1-5E94-CA2BC9537A92}"/>
              </a:ext>
            </a:extLst>
          </p:cNvPr>
          <p:cNvSpPr>
            <a:spLocks noGrp="1"/>
          </p:cNvSpPr>
          <p:nvPr>
            <p:ph type="title"/>
          </p:nvPr>
        </p:nvSpPr>
        <p:spPr>
          <a:xfrm>
            <a:off x="298174" y="354885"/>
            <a:ext cx="8521148" cy="768822"/>
          </a:xfrm>
        </p:spPr>
        <p:txBody>
          <a:bodyPr/>
          <a:lstStyle/>
          <a:p>
            <a:r>
              <a:rPr lang="en-CA" sz="2800" dirty="0"/>
              <a:t>Conclusion</a:t>
            </a:r>
          </a:p>
        </p:txBody>
      </p:sp>
      <p:sp>
        <p:nvSpPr>
          <p:cNvPr id="3" name="Text Placeholder 2">
            <a:extLst>
              <a:ext uri="{FF2B5EF4-FFF2-40B4-BE49-F238E27FC236}">
                <a16:creationId xmlns:a16="http://schemas.microsoft.com/office/drawing/2014/main" id="{3075EA1F-E102-1E21-47C8-C8E2619B4C61}"/>
              </a:ext>
            </a:extLst>
          </p:cNvPr>
          <p:cNvSpPr>
            <a:spLocks noGrp="1"/>
          </p:cNvSpPr>
          <p:nvPr>
            <p:ph type="body" sz="quarter" idx="15"/>
          </p:nvPr>
        </p:nvSpPr>
        <p:spPr>
          <a:xfrm>
            <a:off x="324678" y="990356"/>
            <a:ext cx="8521149" cy="5004044"/>
          </a:xfrm>
        </p:spPr>
        <p:txBody>
          <a:bodyPr>
            <a:noAutofit/>
          </a:bodyPr>
          <a:lstStyle/>
          <a:p>
            <a:pPr>
              <a:spcBef>
                <a:spcPts val="300"/>
              </a:spcBef>
            </a:pPr>
            <a:r>
              <a:rPr lang="en-CA" sz="2000" b="1" dirty="0"/>
              <a:t>Key Achievements</a:t>
            </a:r>
          </a:p>
          <a:p>
            <a:pPr marL="0" indent="0">
              <a:spcBef>
                <a:spcPts val="300"/>
              </a:spcBef>
              <a:buNone/>
            </a:pPr>
            <a:r>
              <a:rPr lang="en-CA" sz="2000" dirty="0"/>
              <a:t>	✓ Classification: Accident factor identified (37%)</a:t>
            </a:r>
          </a:p>
          <a:p>
            <a:pPr marL="0" indent="0">
              <a:spcBef>
                <a:spcPts val="300"/>
              </a:spcBef>
              <a:buNone/>
            </a:pPr>
            <a:r>
              <a:rPr lang="en-CA" sz="2000" dirty="0"/>
              <a:t>	✓ Clustering: 4 distinct patterns discovered</a:t>
            </a:r>
          </a:p>
          <a:p>
            <a:pPr marL="0" indent="0">
              <a:spcBef>
                <a:spcPts val="300"/>
              </a:spcBef>
              <a:buNone/>
            </a:pPr>
            <a:r>
              <a:rPr lang="en-CA" sz="2000" dirty="0"/>
              <a:t>	✓ Outlier Detection: 54 high-risk anomalies found</a:t>
            </a:r>
          </a:p>
          <a:p>
            <a:pPr marL="0" indent="0">
              <a:spcBef>
                <a:spcPts val="300"/>
              </a:spcBef>
              <a:buNone/>
            </a:pPr>
            <a:endParaRPr lang="en-CA" sz="2000" dirty="0"/>
          </a:p>
          <a:p>
            <a:pPr>
              <a:spcBef>
                <a:spcPts val="300"/>
              </a:spcBef>
            </a:pPr>
            <a:r>
              <a:rPr lang="en-CA" sz="2000" b="1" dirty="0"/>
              <a:t>Business Value</a:t>
            </a:r>
          </a:p>
          <a:p>
            <a:pPr marL="0" indent="0">
              <a:spcBef>
                <a:spcPts val="300"/>
              </a:spcBef>
              <a:buNone/>
            </a:pPr>
            <a:r>
              <a:rPr lang="en-CA" sz="2000" dirty="0"/>
              <a:t>	- Resource optimization for law enforcement</a:t>
            </a:r>
          </a:p>
          <a:p>
            <a:pPr marL="0" indent="0">
              <a:spcBef>
                <a:spcPts val="300"/>
              </a:spcBef>
              <a:buNone/>
            </a:pPr>
            <a:r>
              <a:rPr lang="en-CA" sz="2000" dirty="0"/>
              <a:t>	- Evidence-based prevention strategies</a:t>
            </a:r>
          </a:p>
          <a:p>
            <a:pPr marL="0" indent="0">
              <a:spcBef>
                <a:spcPts val="300"/>
              </a:spcBef>
              <a:buNone/>
            </a:pPr>
            <a:r>
              <a:rPr lang="en-CA" sz="2000" dirty="0"/>
              <a:t>	- Data quality improvement</a:t>
            </a:r>
          </a:p>
          <a:p>
            <a:pPr marL="0" indent="0">
              <a:spcBef>
                <a:spcPts val="300"/>
              </a:spcBef>
              <a:buNone/>
            </a:pPr>
            <a:r>
              <a:rPr lang="en-CA" sz="2000" dirty="0"/>
              <a:t>	- Actionable insights</a:t>
            </a:r>
          </a:p>
          <a:p>
            <a:pPr marL="0" indent="0">
              <a:spcBef>
                <a:spcPts val="300"/>
              </a:spcBef>
              <a:buNone/>
            </a:pPr>
            <a:endParaRPr lang="en-CA" sz="2000" dirty="0"/>
          </a:p>
          <a:p>
            <a:pPr>
              <a:spcBef>
                <a:spcPts val="300"/>
              </a:spcBef>
            </a:pPr>
            <a:r>
              <a:rPr lang="en-CA" sz="2000" b="1" dirty="0"/>
              <a:t>Limitations</a:t>
            </a:r>
          </a:p>
          <a:p>
            <a:pPr marL="0" indent="0">
              <a:spcBef>
                <a:spcPts val="300"/>
              </a:spcBef>
              <a:buNone/>
            </a:pPr>
            <a:r>
              <a:rPr lang="en-CA" sz="2000" dirty="0"/>
              <a:t>	- Classification accuracy below target</a:t>
            </a:r>
          </a:p>
          <a:p>
            <a:pPr marL="0" indent="0">
              <a:spcBef>
                <a:spcPts val="300"/>
              </a:spcBef>
              <a:buNone/>
            </a:pPr>
            <a:r>
              <a:rPr lang="en-CA" sz="2000" dirty="0"/>
              <a:t>	- Future: Hyperparameter tuning, ensemble methods</a:t>
            </a:r>
          </a:p>
        </p:txBody>
      </p:sp>
      <p:sp>
        <p:nvSpPr>
          <p:cNvPr id="5" name="Slide Number Placeholder 4">
            <a:extLst>
              <a:ext uri="{FF2B5EF4-FFF2-40B4-BE49-F238E27FC236}">
                <a16:creationId xmlns:a16="http://schemas.microsoft.com/office/drawing/2014/main" id="{32796430-93E7-E36D-B6C3-69CD84CE5F4B}"/>
              </a:ext>
            </a:extLst>
          </p:cNvPr>
          <p:cNvSpPr>
            <a:spLocks noGrp="1"/>
          </p:cNvSpPr>
          <p:nvPr>
            <p:ph type="sldNum" sz="quarter" idx="19"/>
          </p:nvPr>
        </p:nvSpPr>
        <p:spPr>
          <a:xfrm>
            <a:off x="111972" y="6373091"/>
            <a:ext cx="402377" cy="365126"/>
          </a:xfrm>
        </p:spPr>
        <p:txBody>
          <a:bodyPr/>
          <a:lstStyle/>
          <a:p>
            <a:fld id="{DEF3F5F5-7776-394F-A41F-3BAFC9CC9F8E}" type="slidenum">
              <a:rPr lang="en-US" smtClean="0"/>
              <a:pPr/>
              <a:t>21</a:t>
            </a:fld>
            <a:endParaRPr lang="en-US" dirty="0"/>
          </a:p>
        </p:txBody>
      </p:sp>
    </p:spTree>
    <p:extLst>
      <p:ext uri="{BB962C8B-B14F-4D97-AF65-F5344CB8AC3E}">
        <p14:creationId xmlns:p14="http://schemas.microsoft.com/office/powerpoint/2010/main" val="34723992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3269d840-a5e4-48aa-85a1-69055aa789c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9D10CAC11293B459165284FC3C7C868" ma:contentTypeVersion="10" ma:contentTypeDescription="Create a new document." ma:contentTypeScope="" ma:versionID="f9a8a011cc2b3287f006a9e8209ca98e">
  <xsd:schema xmlns:xsd="http://www.w3.org/2001/XMLSchema" xmlns:xs="http://www.w3.org/2001/XMLSchema" xmlns:p="http://schemas.microsoft.com/office/2006/metadata/properties" xmlns:ns3="3269d840-a5e4-48aa-85a1-69055aa789c5" targetNamespace="http://schemas.microsoft.com/office/2006/metadata/properties" ma:root="true" ma:fieldsID="808c7053c55d92bee277265283e5127f" ns3:_="">
    <xsd:import namespace="3269d840-a5e4-48aa-85a1-69055aa789c5"/>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element ref="ns3:MediaServiceSystemTags"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269d840-a5e4-48aa-85a1-69055aa789c5"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7BDB915-0D74-48DF-A89B-4E720DFE8DF3}">
  <ds:schemaRefs>
    <ds:schemaRef ds:uri="http://schemas.microsoft.com/office/2006/documentManagement/types"/>
    <ds:schemaRef ds:uri="http://purl.org/dc/dcmitype/"/>
    <ds:schemaRef ds:uri="http://schemas.microsoft.com/office/2006/metadata/properties"/>
    <ds:schemaRef ds:uri="http://www.w3.org/XML/1998/namespace"/>
    <ds:schemaRef ds:uri="http://purl.org/dc/terms/"/>
    <ds:schemaRef ds:uri="http://schemas.microsoft.com/office/infopath/2007/PartnerControls"/>
    <ds:schemaRef ds:uri="3269d840-a5e4-48aa-85a1-69055aa789c5"/>
    <ds:schemaRef ds:uri="http://purl.org/dc/elements/1.1/"/>
    <ds:schemaRef ds:uri="http://schemas.openxmlformats.org/package/2006/metadata/core-properties"/>
  </ds:schemaRefs>
</ds:datastoreItem>
</file>

<file path=customXml/itemProps2.xml><?xml version="1.0" encoding="utf-8"?>
<ds:datastoreItem xmlns:ds="http://schemas.openxmlformats.org/officeDocument/2006/customXml" ds:itemID="{5CDCFA4E-6073-4116-8107-8BD3A377C329}">
  <ds:schemaRefs>
    <ds:schemaRef ds:uri="http://schemas.microsoft.com/sharepoint/v3/contenttype/forms"/>
  </ds:schemaRefs>
</ds:datastoreItem>
</file>

<file path=customXml/itemProps3.xml><?xml version="1.0" encoding="utf-8"?>
<ds:datastoreItem xmlns:ds="http://schemas.openxmlformats.org/officeDocument/2006/customXml" ds:itemID="{0DD117D6-E0CE-47A3-8CD3-2D070F4B0E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269d840-a5e4-48aa-85a1-69055aa789c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ec1bd924-0a6a-4aa9-aa89-c980316c0449}" enabled="0" method="" siteId="{ec1bd924-0a6a-4aa9-aa89-c980316c0449}" removed="1"/>
</clbl:labelList>
</file>

<file path=docProps/app.xml><?xml version="1.0" encoding="utf-8"?>
<Properties xmlns="http://schemas.openxmlformats.org/officeDocument/2006/extended-properties" xmlns:vt="http://schemas.openxmlformats.org/officeDocument/2006/docPropsVTypes">
  <TotalTime>590</TotalTime>
  <Words>2729</Words>
  <Application>Microsoft Office PowerPoint</Application>
  <PresentationFormat>全屏显示(4:3)</PresentationFormat>
  <Paragraphs>360</Paragraphs>
  <Slides>21</Slides>
  <Notes>20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21</vt:i4>
      </vt:variant>
    </vt:vector>
  </HeadingPairs>
  <TitlesOfParts>
    <vt:vector size="27" baseType="lpstr">
      <vt:lpstr>Segoe WPC</vt:lpstr>
      <vt:lpstr>Aptos</vt:lpstr>
      <vt:lpstr>Arial</vt:lpstr>
      <vt:lpstr>Calibri</vt:lpstr>
      <vt:lpstr>Consolas</vt:lpstr>
      <vt:lpstr>Office Theme</vt:lpstr>
      <vt:lpstr>Traffic Violation Analysis - Presentation Slides</vt:lpstr>
      <vt:lpstr>Introduction</vt:lpstr>
      <vt:lpstr>Business Understanding</vt:lpstr>
      <vt:lpstr>Data Understanding</vt:lpstr>
      <vt:lpstr>Data Preparation</vt:lpstr>
      <vt:lpstr>Modeling - Classification</vt:lpstr>
      <vt:lpstr>Modeling - Classification</vt:lpstr>
      <vt:lpstr>Modeling - Classification Con't</vt:lpstr>
      <vt:lpstr>Results – Classification</vt:lpstr>
      <vt:lpstr>Modeling - Clustering</vt:lpstr>
      <vt:lpstr>Modeling - Clustering Con't</vt:lpstr>
      <vt:lpstr>Modeling - Clustering Con't</vt:lpstr>
      <vt:lpstr>Modeling - Clustering Con't</vt:lpstr>
      <vt:lpstr>Results - Clustering</vt:lpstr>
      <vt:lpstr>Results – Clustering Con't</vt:lpstr>
      <vt:lpstr>Modeling - Outlier Detection Model Building </vt:lpstr>
      <vt:lpstr>Modeling -  Outlier Model Assessment Summary   </vt:lpstr>
      <vt:lpstr>Modeling - Outlier Detection Evaluate results</vt:lpstr>
      <vt:lpstr>Accuracy Analysis</vt:lpstr>
      <vt:lpstr>Expectations &amp; Surprises</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王鹏</dc:creator>
  <cp:keywords/>
  <dc:description>generated using python-pptx</dc:description>
  <cp:lastModifiedBy>Peng Wang</cp:lastModifiedBy>
  <cp:revision>241</cp:revision>
  <dcterms:created xsi:type="dcterms:W3CDTF">2013-01-27T09:14:16Z</dcterms:created>
  <dcterms:modified xsi:type="dcterms:W3CDTF">2025-12-02T20:03:36Z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0x010100E9D10CAC11293B459165284FC3C7C868</vt:lpwstr>
  </property>
</Properties>
</file>